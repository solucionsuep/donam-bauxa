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4630400" cy="8229600"/>
  <p:notesSz cx="8229600" cy="14630400"/>
  <p:embeddedFontLst>
    <p:embeddedFont>
      <p:font typeface="Poppins Light"/>
      <p:regular r:id="rId27"/>
    </p:embeddedFont>
    <p:embeddedFont>
      <p:font typeface="Poppins Light"/>
      <p:regular r:id="rId28"/>
    </p:embeddedFont>
    <p:embeddedFont>
      <p:font typeface="Poppins Light"/>
      <p:regular r:id="rId29"/>
    </p:embeddedFont>
    <p:embeddedFont>
      <p:font typeface="Poppins Light"/>
      <p:regular r:id="rId30"/>
    </p:embeddedFont>
    <p:embeddedFont>
      <p:font typeface="Roboto Light"/>
      <p:regular r:id="rId31"/>
    </p:embeddedFont>
    <p:embeddedFont>
      <p:font typeface="Roboto Light"/>
      <p:regular r:id="rId32"/>
    </p:embeddedFont>
    <p:embeddedFont>
      <p:font typeface="Roboto Light"/>
      <p:regular r:id="rId33"/>
    </p:embeddedFont>
    <p:embeddedFont>
      <p:font typeface="Roboto Light"/>
      <p:regular r:id="rId3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onambauxa.online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slideLayout" Target="../slideLayouts/slideLayout16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slideLayout" Target="../slideLayouts/slideLayout19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79" y="148709"/>
            <a:ext cx="5288042" cy="7932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7495" y="292096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Dona'm Bauxa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280190" y="3838694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Plataforma interactiva de l'escena musical de Mallorca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4379476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u="sng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donambauxa.online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280190" y="4920258"/>
            <a:ext cx="3379946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F2F2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6872" y="4987409"/>
            <a:ext cx="312658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TECNOLOGIA MULTIMÈDIA · P3 · 2024–2025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546021"/>
            <a:ext cx="4496633" cy="56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Objectiu i Abast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19376" y="1434108"/>
            <a:ext cx="131916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Crear una </a:t>
            </a:r>
            <a:pPr algn="l" indent="0" marL="0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WebApp SPA</a:t>
            </a:r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per descobrir artistes, concerts i festes populars de Mallorca, amb joc musical interactiu i panell d'administració. Dirigida a residents i turistes interessats en la música i cultura local en català/mallorquí.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9376" y="2166104"/>
            <a:ext cx="6514267" cy="1730454"/>
          </a:xfrm>
          <a:prstGeom prst="roundRect">
            <a:avLst>
              <a:gd name="adj" fmla="val 4366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6780" y="2353508"/>
            <a:ext cx="539591" cy="539591"/>
          </a:xfrm>
          <a:prstGeom prst="roundRect">
            <a:avLst>
              <a:gd name="adj" fmla="val 16944474"/>
            </a:avLst>
          </a:prstGeom>
          <a:solidFill>
            <a:srgbClr val="F2F2F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132" y="2501860"/>
            <a:ext cx="242768" cy="242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6780" y="3056096"/>
            <a:ext cx="224825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Catàleg d'artistes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06780" y="3434834"/>
            <a:ext cx="613945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Filtres per gènere, zona i text lliure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96639" y="2166104"/>
            <a:ext cx="6514386" cy="1730454"/>
          </a:xfrm>
          <a:prstGeom prst="roundRect">
            <a:avLst>
              <a:gd name="adj" fmla="val 4366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84043" y="2353508"/>
            <a:ext cx="539591" cy="539591"/>
          </a:xfrm>
          <a:prstGeom prst="roundRect">
            <a:avLst>
              <a:gd name="adj" fmla="val 16944474"/>
            </a:avLst>
          </a:prstGeom>
          <a:solidFill>
            <a:srgbClr val="F2F2F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32395" y="2501860"/>
            <a:ext cx="242768" cy="242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4043" y="3056096"/>
            <a:ext cx="2839403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Agenda d'esdeveniments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7584043" y="3434834"/>
            <a:ext cx="613957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Mapa geolocalitzat Leaflet + filtres de data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19376" y="4059555"/>
            <a:ext cx="6514267" cy="1730454"/>
          </a:xfrm>
          <a:prstGeom prst="roundRect">
            <a:avLst>
              <a:gd name="adj" fmla="val 4366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06780" y="4246959"/>
            <a:ext cx="539591" cy="539591"/>
          </a:xfrm>
          <a:prstGeom prst="roundRect">
            <a:avLst>
              <a:gd name="adj" fmla="val 16944474"/>
            </a:avLst>
          </a:prstGeom>
          <a:solidFill>
            <a:srgbClr val="F2F2F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132" y="4395311"/>
            <a:ext cx="242768" cy="2427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6780" y="4949547"/>
            <a:ext cx="224825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Joc musical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906780" y="5328285"/>
            <a:ext cx="613945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Àudio, imatge i vídeo — 3 formats Schema.org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396639" y="4059555"/>
            <a:ext cx="6514386" cy="1730454"/>
          </a:xfrm>
          <a:prstGeom prst="roundRect">
            <a:avLst>
              <a:gd name="adj" fmla="val 4366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584043" y="4246959"/>
            <a:ext cx="539591" cy="539591"/>
          </a:xfrm>
          <a:prstGeom prst="roundRect">
            <a:avLst>
              <a:gd name="adj" fmla="val 16944474"/>
            </a:avLst>
          </a:prstGeom>
          <a:solidFill>
            <a:srgbClr val="F2F2F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32395" y="4395311"/>
            <a:ext cx="242768" cy="2427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4043" y="4949547"/>
            <a:ext cx="224825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Gestió d'usuaris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7584043" y="5328285"/>
            <a:ext cx="613957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Rols: lector / promotor / admin + OAuth Google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19376" y="5953006"/>
            <a:ext cx="6514267" cy="1730454"/>
          </a:xfrm>
          <a:prstGeom prst="roundRect">
            <a:avLst>
              <a:gd name="adj" fmla="val 4366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06780" y="6140410"/>
            <a:ext cx="539591" cy="539591"/>
          </a:xfrm>
          <a:prstGeom prst="roundRect">
            <a:avLst>
              <a:gd name="adj" fmla="val 16944474"/>
            </a:avLst>
          </a:prstGeom>
          <a:solidFill>
            <a:srgbClr val="F2F2F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5132" y="6288762"/>
            <a:ext cx="242768" cy="2427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6780" y="6842998"/>
            <a:ext cx="224825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Exportació .ics</a:t>
            </a:r>
            <a:endParaRPr lang="en-US" sz="1750" dirty="0"/>
          </a:p>
        </p:txBody>
      </p:sp>
      <p:sp>
        <p:nvSpPr>
          <p:cNvPr id="28" name="Text 21"/>
          <p:cNvSpPr/>
          <p:nvPr/>
        </p:nvSpPr>
        <p:spPr>
          <a:xfrm>
            <a:off x="906780" y="7221736"/>
            <a:ext cx="613945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Compatible Apple Calendar, Google i Outlook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7396639" y="5953006"/>
            <a:ext cx="6514386" cy="1730454"/>
          </a:xfrm>
          <a:prstGeom prst="roundRect">
            <a:avLst>
              <a:gd name="adj" fmla="val 4366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584043" y="6140410"/>
            <a:ext cx="539591" cy="539591"/>
          </a:xfrm>
          <a:prstGeom prst="roundRect">
            <a:avLst>
              <a:gd name="adj" fmla="val 16944474"/>
            </a:avLst>
          </a:prstGeom>
          <a:solidFill>
            <a:srgbClr val="F2F2F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32395" y="6288762"/>
            <a:ext cx="242768" cy="2427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84043" y="6842998"/>
            <a:ext cx="224825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Favorits persistits</a:t>
            </a:r>
            <a:endParaRPr lang="en-US" sz="1750" dirty="0"/>
          </a:p>
        </p:txBody>
      </p:sp>
      <p:sp>
        <p:nvSpPr>
          <p:cNvPr id="33" name="Text 25"/>
          <p:cNvSpPr/>
          <p:nvPr/>
        </p:nvSpPr>
        <p:spPr>
          <a:xfrm>
            <a:off x="7584043" y="7221736"/>
            <a:ext cx="613957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localStorage — sense necessitat d'autenticació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89848"/>
            <a:ext cx="2088237" cy="373142"/>
          </a:xfrm>
          <a:prstGeom prst="roundRect">
            <a:avLst>
              <a:gd name="adj" fmla="val 17872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749379"/>
            <a:ext cx="185011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 1 — ARQUITECTURA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142286"/>
            <a:ext cx="514350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Arquitectura General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25837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Stack tècnic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93790" y="2791778"/>
            <a:ext cx="3378637" cy="1593652"/>
          </a:xfrm>
          <a:prstGeom prst="roundRect">
            <a:avLst>
              <a:gd name="adj" fmla="val 6885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0930" y="2791778"/>
            <a:ext cx="91440" cy="1593652"/>
          </a:xfrm>
          <a:prstGeom prst="roundRect">
            <a:avLst>
              <a:gd name="adj" fmla="val 91163"/>
            </a:avLst>
          </a:prstGeom>
          <a:solidFill>
            <a:srgbClr val="F2F2F3"/>
          </a:solidFill>
          <a:ln/>
        </p:spPr>
      </p:sp>
      <p:sp>
        <p:nvSpPr>
          <p:cNvPr id="8" name="Text 6"/>
          <p:cNvSpPr/>
          <p:nvPr/>
        </p:nvSpPr>
        <p:spPr>
          <a:xfrm>
            <a:off x="1083588" y="301299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Frontend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83588" y="3521512"/>
            <a:ext cx="286762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Vanilla JS ES6 Modules + Bootstrap 5.3.3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370784" y="2791778"/>
            <a:ext cx="3378637" cy="1593652"/>
          </a:xfrm>
          <a:prstGeom prst="roundRect">
            <a:avLst>
              <a:gd name="adj" fmla="val 6885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7924" y="2791778"/>
            <a:ext cx="91440" cy="1593652"/>
          </a:xfrm>
          <a:prstGeom prst="roundRect">
            <a:avLst>
              <a:gd name="adj" fmla="val 91163"/>
            </a:avLst>
          </a:prstGeom>
          <a:solidFill>
            <a:srgbClr val="F2F2F3"/>
          </a:solidFill>
          <a:ln/>
        </p:spPr>
      </p:sp>
      <p:sp>
        <p:nvSpPr>
          <p:cNvPr id="12" name="Text 10"/>
          <p:cNvSpPr/>
          <p:nvPr/>
        </p:nvSpPr>
        <p:spPr>
          <a:xfrm>
            <a:off x="4660583" y="301299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Backend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660583" y="3521512"/>
            <a:ext cx="2867620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Node.js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type:module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+ Express 4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93790" y="4583787"/>
            <a:ext cx="3378637" cy="1586032"/>
          </a:xfrm>
          <a:prstGeom prst="roundRect">
            <a:avLst>
              <a:gd name="adj" fmla="val 6918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0930" y="4583787"/>
            <a:ext cx="91440" cy="1586032"/>
          </a:xfrm>
          <a:prstGeom prst="roundRect">
            <a:avLst>
              <a:gd name="adj" fmla="val 91163"/>
            </a:avLst>
          </a:prstGeom>
          <a:solidFill>
            <a:srgbClr val="F2F2F3"/>
          </a:solidFill>
          <a:ln/>
        </p:spPr>
      </p:sp>
      <p:sp>
        <p:nvSpPr>
          <p:cNvPr id="16" name="Text 14"/>
          <p:cNvSpPr/>
          <p:nvPr/>
        </p:nvSpPr>
        <p:spPr>
          <a:xfrm>
            <a:off x="1083588" y="480500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Auth / DB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83588" y="5313521"/>
            <a:ext cx="286762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Supabase (PostgreSQL + GoTrue JWT)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4370784" y="4583787"/>
            <a:ext cx="3378637" cy="1586032"/>
          </a:xfrm>
          <a:prstGeom prst="roundRect">
            <a:avLst>
              <a:gd name="adj" fmla="val 6918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7924" y="4583787"/>
            <a:ext cx="91440" cy="1586032"/>
          </a:xfrm>
          <a:prstGeom prst="roundRect">
            <a:avLst>
              <a:gd name="adj" fmla="val 91163"/>
            </a:avLst>
          </a:prstGeom>
          <a:solidFill>
            <a:srgbClr val="F2F2F3"/>
          </a:solidFill>
          <a:ln/>
        </p:spPr>
      </p:sp>
      <p:sp>
        <p:nvSpPr>
          <p:cNvPr id="20" name="Text 18"/>
          <p:cNvSpPr/>
          <p:nvPr/>
        </p:nvSpPr>
        <p:spPr>
          <a:xfrm>
            <a:off x="4660583" y="480500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Deploy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4660583" y="5313521"/>
            <a:ext cx="286762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Vercel serverless → donambauxa.online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098274" y="2060019"/>
            <a:ext cx="5888712" cy="5479733"/>
          </a:xfrm>
          <a:prstGeom prst="roundRect">
            <a:avLst>
              <a:gd name="adj" fmla="val 2608"/>
            </a:avLst>
          </a:prstGeom>
          <a:solidFill>
            <a:srgbClr val="F2F2F3"/>
          </a:solidFill>
          <a:ln/>
        </p:spPr>
      </p:sp>
      <p:sp>
        <p:nvSpPr>
          <p:cNvPr id="23" name="Text 21"/>
          <p:cNvSpPr/>
          <p:nvPr/>
        </p:nvSpPr>
        <p:spPr>
          <a:xfrm>
            <a:off x="8296632" y="2258378"/>
            <a:ext cx="253067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Flux de comunicació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8296632" y="2791778"/>
            <a:ext cx="5491996" cy="4524732"/>
          </a:xfrm>
          <a:prstGeom prst="roundRect">
            <a:avLst>
              <a:gd name="adj" fmla="val 1842"/>
            </a:avLst>
          </a:prstGeom>
          <a:solidFill>
            <a:srgbClr val="E5E5E6"/>
          </a:solidFill>
          <a:ln/>
        </p:spPr>
      </p:sp>
      <p:sp>
        <p:nvSpPr>
          <p:cNvPr id="25" name="Shape 23"/>
          <p:cNvSpPr/>
          <p:nvPr/>
        </p:nvSpPr>
        <p:spPr>
          <a:xfrm>
            <a:off x="8286750" y="2791778"/>
            <a:ext cx="5511760" cy="4524732"/>
          </a:xfrm>
          <a:prstGeom prst="roundRect">
            <a:avLst>
              <a:gd name="adj" fmla="val 658"/>
            </a:avLst>
          </a:prstGeom>
          <a:solidFill>
            <a:srgbClr val="E5E5E6"/>
          </a:solidFill>
          <a:ln/>
        </p:spPr>
      </p:sp>
      <p:sp>
        <p:nvSpPr>
          <p:cNvPr id="26" name="Text 24"/>
          <p:cNvSpPr/>
          <p:nvPr/>
        </p:nvSpPr>
        <p:spPr>
          <a:xfrm>
            <a:off x="8534757" y="2990136"/>
            <a:ext cx="5015746" cy="4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Navegador (SPA)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│ fetch JSON estàtics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│ fetch /api/* (JWT)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▼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Express.js (Vercel Serverless)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├── /frontend/ (HTML, CSS, JS)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├── /routes/ (content, profile,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│ users, requests)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├── /middleware/auth.js (JWT)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└── /helpers/ (json.js, supabase.js)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│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├── Supabase DB (users, requests)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└── JSON files (artists, events…)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2228" y="525423"/>
            <a:ext cx="1793677" cy="305038"/>
          </a:xfrm>
          <a:prstGeom prst="roundRect">
            <a:avLst>
              <a:gd name="adj" fmla="val 18788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784503" y="576501"/>
            <a:ext cx="1589127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 1 — ARQUITECTURA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2228" y="889040"/>
            <a:ext cx="6500336" cy="532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Estructura de Fitxers i Carpetes</a:t>
            </a:r>
            <a:endParaRPr lang="en-US" sz="3350" dirty="0"/>
          </a:p>
        </p:txBody>
      </p:sp>
      <p:sp>
        <p:nvSpPr>
          <p:cNvPr id="5" name="Shape 3"/>
          <p:cNvSpPr/>
          <p:nvPr/>
        </p:nvSpPr>
        <p:spPr>
          <a:xfrm>
            <a:off x="682228" y="1806535"/>
            <a:ext cx="6424970" cy="3639383"/>
          </a:xfrm>
          <a:prstGeom prst="roundRect">
            <a:avLst>
              <a:gd name="adj" fmla="val 1968"/>
            </a:avLst>
          </a:prstGeom>
          <a:solidFill>
            <a:srgbClr val="121212"/>
          </a:solidFill>
          <a:ln/>
        </p:spPr>
      </p:sp>
      <p:sp>
        <p:nvSpPr>
          <p:cNvPr id="6" name="Shape 4"/>
          <p:cNvSpPr/>
          <p:nvPr/>
        </p:nvSpPr>
        <p:spPr>
          <a:xfrm>
            <a:off x="673775" y="1806535"/>
            <a:ext cx="6441877" cy="3639383"/>
          </a:xfrm>
          <a:prstGeom prst="roundRect">
            <a:avLst>
              <a:gd name="adj" fmla="val 703"/>
            </a:avLst>
          </a:prstGeom>
          <a:solidFill>
            <a:srgbClr val="121212"/>
          </a:solidFill>
          <a:ln/>
        </p:spPr>
      </p:sp>
      <p:sp>
        <p:nvSpPr>
          <p:cNvPr id="7" name="Text 5"/>
          <p:cNvSpPr/>
          <p:nvPr/>
        </p:nvSpPr>
        <p:spPr>
          <a:xfrm>
            <a:off x="886897" y="1977033"/>
            <a:ext cx="6015633" cy="32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donam-bauxa/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server.js        ← Express + CORS + 301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vercel.json      ← Config serverless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routes/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content.js   ← CRUD genèric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profile.js   ← Perfil autenticat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users.js     ← Gestió (admin)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└── requests.js  ← Promotor → admin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middleware/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└── auth.js      ← JWT doble verif.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└── helpers/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├── json.js      ← Mutex + read/write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└── supabase.js  ← Client + mock dev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30822" y="1806535"/>
            <a:ext cx="6424970" cy="4907994"/>
          </a:xfrm>
          <a:prstGeom prst="roundRect">
            <a:avLst>
              <a:gd name="adj" fmla="val 1460"/>
            </a:avLst>
          </a:prstGeom>
          <a:solidFill>
            <a:srgbClr val="121212"/>
          </a:solidFill>
          <a:ln/>
        </p:spPr>
      </p:sp>
      <p:sp>
        <p:nvSpPr>
          <p:cNvPr id="9" name="Shape 7"/>
          <p:cNvSpPr/>
          <p:nvPr/>
        </p:nvSpPr>
        <p:spPr>
          <a:xfrm>
            <a:off x="7522369" y="1806535"/>
            <a:ext cx="6441877" cy="4907994"/>
          </a:xfrm>
          <a:prstGeom prst="roundRect">
            <a:avLst>
              <a:gd name="adj" fmla="val 521"/>
            </a:avLst>
          </a:prstGeom>
          <a:solidFill>
            <a:srgbClr val="121212"/>
          </a:solidFill>
          <a:ln/>
        </p:spPr>
      </p:sp>
      <p:sp>
        <p:nvSpPr>
          <p:cNvPr id="10" name="Text 8"/>
          <p:cNvSpPr/>
          <p:nvPr/>
        </p:nvSpPr>
        <p:spPr>
          <a:xfrm>
            <a:off x="7735491" y="1977033"/>
            <a:ext cx="6015633" cy="4566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frontend/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index.html       ← Única pàgina (SPA)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css/             ← Estils + Bootstrap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js/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app.js       ← Entry point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router.js    ← Hash-based router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config.js    ← Supabase + apiFetch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└── modules/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    ├── dataLoader.js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    ├── renderer.js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    ├── filters.js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    ├── joc.js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    ├── mapModule.js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    ├── favorites.js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    ├── calendar.js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    └── admin.js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data/            ← JSON Schema.org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└── assets/          ← AVIF/WebP, M4A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2228" y="7044095"/>
            <a:ext cx="13265944" cy="659963"/>
          </a:xfrm>
          <a:prstGeom prst="roundRect">
            <a:avLst>
              <a:gd name="adj" fmla="val 10855"/>
            </a:avLst>
          </a:prstGeom>
          <a:solidFill>
            <a:srgbClr val="02234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726" y="7290911"/>
            <a:ext cx="213122" cy="17049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36345" y="7233285"/>
            <a:ext cx="12541329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Color-coding de capes: </a:t>
            </a:r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blau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= backend · </a:t>
            </a:r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verd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= frontend/data · </a:t>
            </a:r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taronja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= assets multimèdia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97230"/>
            <a:ext cx="1788676" cy="373142"/>
          </a:xfrm>
          <a:prstGeom prst="roundRect">
            <a:avLst>
              <a:gd name="adj" fmla="val 17872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756761"/>
            <a:ext cx="155055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 2 — FRONT-END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149667"/>
            <a:ext cx="890718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Navegació SPA i Diagrama de Vistes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26575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Rutes hash-based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93790" y="2799159"/>
            <a:ext cx="5602962" cy="3254573"/>
          </a:xfrm>
          <a:prstGeom prst="roundRect">
            <a:avLst>
              <a:gd name="adj" fmla="val 2561"/>
            </a:avLst>
          </a:prstGeom>
          <a:solidFill>
            <a:srgbClr val="121212"/>
          </a:solidFill>
          <a:ln/>
        </p:spPr>
      </p:sp>
      <p:sp>
        <p:nvSpPr>
          <p:cNvPr id="7" name="Shape 5"/>
          <p:cNvSpPr/>
          <p:nvPr/>
        </p:nvSpPr>
        <p:spPr>
          <a:xfrm>
            <a:off x="783908" y="2799159"/>
            <a:ext cx="5622727" cy="3254573"/>
          </a:xfrm>
          <a:prstGeom prst="roundRect">
            <a:avLst>
              <a:gd name="adj" fmla="val 915"/>
            </a:avLst>
          </a:prstGeom>
          <a:solidFill>
            <a:srgbClr val="121212"/>
          </a:solidFill>
          <a:ln/>
        </p:spPr>
      </p:sp>
      <p:sp>
        <p:nvSpPr>
          <p:cNvPr id="8" name="Text 6"/>
          <p:cNvSpPr/>
          <p:nvPr/>
        </p:nvSpPr>
        <p:spPr>
          <a:xfrm>
            <a:off x="1031915" y="2997518"/>
            <a:ext cx="5126712" cy="2857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#home      → Portada destacats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#artists   → Catàleg + filtres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#events    → Agenda + data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#map       → Mapa Leaflet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#favorits  → Favorits (localStorage)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#joc       → Joc musical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#profile   → Perfil (auth)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#solicituds→ Sol·licituds (rol)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#admin     → Panell admin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88480" y="2265759"/>
            <a:ext cx="252257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Punts clau del router</a:t>
            </a:r>
            <a:endParaRPr lang="en-US" sz="19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62894" y="2805232"/>
            <a:ext cx="297656" cy="2976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33323" y="279915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Sense recàrrega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7533323" y="3307675"/>
            <a:ext cx="6310789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Canvi de vista via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hashchange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el DOM es manté intacte</a:t>
            </a:r>
            <a:endParaRPr lang="en-US" sz="15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62894" y="4035743"/>
            <a:ext cx="297656" cy="2976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33323" y="4029670"/>
            <a:ext cx="249150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initializedViews (Set)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7533323" y="4538186"/>
            <a:ext cx="63107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Listeners de filtres no es dupliquen en visites repetides</a:t>
            </a:r>
            <a:endParaRPr lang="en-US" sz="15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62894" y="5258633"/>
            <a:ext cx="297656" cy="2976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533323" y="525256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mapCleanup()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7533323" y="5761077"/>
            <a:ext cx="6310789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Evita l'error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Map container already initialized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 Leaflet</a:t>
            </a:r>
            <a:endParaRPr lang="en-US" sz="15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62894" y="6489144"/>
            <a:ext cx="297656" cy="2976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33323" y="648307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Navbar + modals</a:t>
            </a:r>
            <a:endParaRPr lang="en-US" sz="1950" dirty="0"/>
          </a:p>
        </p:txBody>
      </p:sp>
      <p:sp>
        <p:nvSpPr>
          <p:cNvPr id="21" name="Text 15"/>
          <p:cNvSpPr/>
          <p:nvPr/>
        </p:nvSpPr>
        <p:spPr>
          <a:xfrm>
            <a:off x="7533323" y="6991588"/>
            <a:ext cx="63107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 tanquen automàticament en cada canvi de ruta (mòbil)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79" y="148709"/>
            <a:ext cx="5288042" cy="793206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80190" y="549593"/>
            <a:ext cx="1788676" cy="373142"/>
          </a:xfrm>
          <a:prstGeom prst="roundRect">
            <a:avLst>
              <a:gd name="adj" fmla="val 17872"/>
            </a:avLst>
          </a:prstGeom>
          <a:solidFill>
            <a:srgbClr val="252528"/>
          </a:solidFill>
          <a:ln/>
        </p:spPr>
      </p:sp>
      <p:sp>
        <p:nvSpPr>
          <p:cNvPr id="5" name="Text 2"/>
          <p:cNvSpPr/>
          <p:nvPr/>
        </p:nvSpPr>
        <p:spPr>
          <a:xfrm>
            <a:off x="6399252" y="609124"/>
            <a:ext cx="155055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 2 — FRONT-END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280190" y="1002030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HTML5, CSS i Disseny Responsiu</a:t>
            </a:r>
            <a:endParaRPr lang="en-US" sz="3900" dirty="0"/>
          </a:p>
        </p:txBody>
      </p:sp>
      <p:sp>
        <p:nvSpPr>
          <p:cNvPr id="7" name="Shape 4"/>
          <p:cNvSpPr/>
          <p:nvPr/>
        </p:nvSpPr>
        <p:spPr>
          <a:xfrm>
            <a:off x="6280190" y="2539841"/>
            <a:ext cx="2386489" cy="3435072"/>
          </a:xfrm>
          <a:prstGeom prst="roundRect">
            <a:avLst>
              <a:gd name="adj" fmla="val 3493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1408" y="2761059"/>
            <a:ext cx="19440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HTML5 Semàntic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501408" y="3500438"/>
            <a:ext cx="1944053" cy="2253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 Cada targeta d'artista o event és un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independent.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8865037" y="2539841"/>
            <a:ext cx="2386608" cy="3435072"/>
          </a:xfrm>
          <a:prstGeom prst="roundRect">
            <a:avLst>
              <a:gd name="adj" fmla="val 3493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86255" y="2761059"/>
            <a:ext cx="194417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Bootstrap 5.3.3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086255" y="3190280"/>
            <a:ext cx="1944172" cy="1935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Grid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col-md-6 col-lg-4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modals, navbar collapse, badges. Manipulat via JS: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bootstrap.Modal.getInstance()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11450003" y="2539841"/>
            <a:ext cx="2386608" cy="3435072"/>
          </a:xfrm>
          <a:prstGeom prst="roundRect">
            <a:avLst>
              <a:gd name="adj" fmla="val 3493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671221" y="2761059"/>
            <a:ext cx="194417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CSS Propi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1671221" y="3190280"/>
            <a:ext cx="1944172" cy="1935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Variables natives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--color-primary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animació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animate-fade-in-up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skeleton loaders per evitar CLS en càrrega.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280190" y="6173272"/>
            <a:ext cx="7556421" cy="1506736"/>
          </a:xfrm>
          <a:prstGeom prst="roundRect">
            <a:avLst>
              <a:gd name="adj" fmla="val 5532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01408" y="6394490"/>
            <a:ext cx="286678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Responsive Mobile-First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6501408" y="6823710"/>
            <a:ext cx="711398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Navbar col·lapsa en mòbil. Les targetes passen de 3 columnes (desktop) a 1 (mòbil) automàticament.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6905" y="496967"/>
            <a:ext cx="1828086" cy="283726"/>
          </a:xfrm>
          <a:prstGeom prst="roundRect">
            <a:avLst>
              <a:gd name="adj" fmla="val 19097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1053584" y="545306"/>
            <a:ext cx="1634728" cy="187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 3 — GESTIÓ DE DADES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56905" y="833080"/>
            <a:ext cx="8446651" cy="503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Schema.org JSON-LD: Estructura de Dades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56905" y="1664375"/>
            <a:ext cx="2015728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Tipus principals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956905" y="2063710"/>
            <a:ext cx="3015258" cy="1188006"/>
          </a:xfrm>
          <a:prstGeom prst="roundRect">
            <a:avLst>
              <a:gd name="adj" fmla="val 570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5736" y="2232541"/>
            <a:ext cx="2015728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ItemList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25736" y="2615446"/>
            <a:ext cx="2677597" cy="46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Contenidor arrel de tots els fitxers de dades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03132" y="2063710"/>
            <a:ext cx="3015258" cy="1188006"/>
          </a:xfrm>
          <a:prstGeom prst="roundRect">
            <a:avLst>
              <a:gd name="adj" fmla="val 570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1963" y="2232541"/>
            <a:ext cx="2015728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MusicGroup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271963" y="2615446"/>
            <a:ext cx="2677597" cy="46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Artistes — member, album, genre, areaServed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56905" y="3382685"/>
            <a:ext cx="3015258" cy="1188006"/>
          </a:xfrm>
          <a:prstGeom prst="roundRect">
            <a:avLst>
              <a:gd name="adj" fmla="val 570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5736" y="3551515"/>
            <a:ext cx="2015728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MusicEvent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25736" y="3934420"/>
            <a:ext cx="2677597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GeoCoordinates, Offer, performer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03132" y="3382685"/>
            <a:ext cx="3015258" cy="1188006"/>
          </a:xfrm>
          <a:prstGeom prst="roundRect">
            <a:avLst>
              <a:gd name="adj" fmla="val 570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1963" y="3551515"/>
            <a:ext cx="2015728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Question + Answer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271963" y="3934420"/>
            <a:ext cx="2677597" cy="46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Preguntes del joc amb acceptedAnswer i associatedMedia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19392" y="1664375"/>
            <a:ext cx="2015728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Snippet artists.json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19392" y="2063710"/>
            <a:ext cx="6161484" cy="4763095"/>
          </a:xfrm>
          <a:prstGeom prst="roundRect">
            <a:avLst>
              <a:gd name="adj" fmla="val 1422"/>
            </a:avLst>
          </a:prstGeom>
          <a:solidFill>
            <a:srgbClr val="121212"/>
          </a:solidFill>
          <a:ln/>
        </p:spPr>
      </p:sp>
      <p:sp>
        <p:nvSpPr>
          <p:cNvPr id="20" name="Shape 18"/>
          <p:cNvSpPr/>
          <p:nvPr/>
        </p:nvSpPr>
        <p:spPr>
          <a:xfrm>
            <a:off x="7511415" y="2063710"/>
            <a:ext cx="6177439" cy="4763095"/>
          </a:xfrm>
          <a:prstGeom prst="roundRect">
            <a:avLst>
              <a:gd name="adj" fmla="val 508"/>
            </a:avLst>
          </a:prstGeom>
          <a:solidFill>
            <a:srgbClr val="121212"/>
          </a:solidFill>
          <a:ln/>
        </p:spPr>
      </p:sp>
      <p:sp>
        <p:nvSpPr>
          <p:cNvPr id="21" name="Text 19"/>
          <p:cNvSpPr/>
          <p:nvPr/>
        </p:nvSpPr>
        <p:spPr>
          <a:xfrm>
            <a:off x="7712988" y="2224921"/>
            <a:ext cx="5774293" cy="4440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"@context": "https://schema.org",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"@type": "ItemList",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"itemListElement": [{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"@type": "MusicGroup",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"name": "Antònia Font",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"genre": "Indie Pop",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"areaServed": "Mallorca",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"additionalProperty": [{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"@type": "PropertyValue",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"name": "spotifyId",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"value": "3abc…"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},{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"@type": "PropertyValue",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"name": "featured",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"value": true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}]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}]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56905" y="7121604"/>
            <a:ext cx="12716470" cy="611029"/>
          </a:xfrm>
          <a:prstGeom prst="roundRect">
            <a:avLst>
              <a:gd name="adj" fmla="val 11084"/>
            </a:avLst>
          </a:prstGeom>
          <a:solidFill>
            <a:srgbClr val="252528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116" y="7349609"/>
            <a:ext cx="201573" cy="161211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80899" y="7292816"/>
            <a:ext cx="12031266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hidratació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additionalProperty[]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eleva camps com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spotifyId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featured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al nivell base JS via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extractItems()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 Si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archived === true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l'element s'exclou automàticament.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80918"/>
            <a:ext cx="2250281" cy="373142"/>
          </a:xfrm>
          <a:prstGeom prst="roundRect">
            <a:avLst>
              <a:gd name="adj" fmla="val 17872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740450"/>
            <a:ext cx="201215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 3 — GESTIÓ DE DADES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133356"/>
            <a:ext cx="714982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Integració de Dades Externes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2494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events_extern.json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2757964"/>
            <a:ext cx="6279356" cy="97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Utilitza el format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@graph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 JSON-LD (no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ItemList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). La funció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loadExternEvents()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el normalitza al vocabulari intern i marca cada event amb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isExtern: true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3790" y="3956685"/>
            <a:ext cx="6279356" cy="1984415"/>
          </a:xfrm>
          <a:prstGeom prst="roundRect">
            <a:avLst>
              <a:gd name="adj" fmla="val 4201"/>
            </a:avLst>
          </a:prstGeom>
          <a:solidFill>
            <a:srgbClr val="121212"/>
          </a:solidFill>
          <a:ln/>
        </p:spPr>
      </p:sp>
      <p:sp>
        <p:nvSpPr>
          <p:cNvPr id="8" name="Shape 6"/>
          <p:cNvSpPr/>
          <p:nvPr/>
        </p:nvSpPr>
        <p:spPr>
          <a:xfrm>
            <a:off x="783908" y="3956685"/>
            <a:ext cx="6299121" cy="1984415"/>
          </a:xfrm>
          <a:prstGeom prst="roundRect">
            <a:avLst>
              <a:gd name="adj" fmla="val 1500"/>
            </a:avLst>
          </a:prstGeom>
          <a:solidFill>
            <a:srgbClr val="121212"/>
          </a:solidFill>
          <a:ln/>
        </p:spPr>
      </p:sp>
      <p:sp>
        <p:nvSpPr>
          <p:cNvPr id="9" name="Text 7"/>
          <p:cNvSpPr/>
          <p:nvPr/>
        </p:nvSpPr>
        <p:spPr>
          <a:xfrm>
            <a:off x="1031915" y="4155043"/>
            <a:ext cx="580310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Fusió transparent al frontend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const allEvents = [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...events,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...externEvents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];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3790" y="6164342"/>
            <a:ext cx="627935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Els filtres i el mapa consumeixen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allEvents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 forma totalment transparent.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4874" y="2249448"/>
            <a:ext cx="276701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Mecanismes de gestió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564874" y="2782848"/>
            <a:ext cx="6279356" cy="1276112"/>
          </a:xfrm>
          <a:prstGeom prst="roundRect">
            <a:avLst>
              <a:gd name="adj" fmla="val 8599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2014" y="2782848"/>
            <a:ext cx="91440" cy="1276112"/>
          </a:xfrm>
          <a:prstGeom prst="roundRect">
            <a:avLst>
              <a:gd name="adj" fmla="val 91163"/>
            </a:avLst>
          </a:prstGeom>
          <a:solidFill>
            <a:srgbClr val="F2F2F3"/>
          </a:solidFill>
          <a:ln/>
        </p:spPr>
      </p:sp>
      <p:sp>
        <p:nvSpPr>
          <p:cNvPr id="14" name="Text 12"/>
          <p:cNvSpPr/>
          <p:nvPr/>
        </p:nvSpPr>
        <p:spPr>
          <a:xfrm>
            <a:off x="7854672" y="300406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Badge "Extern"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854672" y="3512582"/>
            <a:ext cx="5768340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Els events externs mostren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&lt;i class="bi bi-globe2"&gt;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 la targeta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564874" y="4257318"/>
            <a:ext cx="6279356" cy="1276112"/>
          </a:xfrm>
          <a:prstGeom prst="roundRect">
            <a:avLst>
              <a:gd name="adj" fmla="val 8599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2014" y="4257318"/>
            <a:ext cx="91440" cy="1276112"/>
          </a:xfrm>
          <a:prstGeom prst="roundRect">
            <a:avLst>
              <a:gd name="adj" fmla="val 91163"/>
            </a:avLst>
          </a:prstGeom>
          <a:solidFill>
            <a:srgbClr val="F2F2F3"/>
          </a:solidFill>
          <a:ln/>
        </p:spPr>
      </p:sp>
      <p:sp>
        <p:nvSpPr>
          <p:cNvPr id="18" name="Text 16"/>
          <p:cNvSpPr/>
          <p:nvPr/>
        </p:nvSpPr>
        <p:spPr>
          <a:xfrm>
            <a:off x="7854672" y="447853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Caché compartida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854672" y="4987052"/>
            <a:ext cx="5768340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Interns i externs al mateix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 caché de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dataLoader.js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564874" y="5731788"/>
            <a:ext cx="6279356" cy="1593652"/>
          </a:xfrm>
          <a:prstGeom prst="roundRect">
            <a:avLst>
              <a:gd name="adj" fmla="val 6885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2014" y="5731788"/>
            <a:ext cx="91440" cy="1593652"/>
          </a:xfrm>
          <a:prstGeom prst="roundRect">
            <a:avLst>
              <a:gd name="adj" fmla="val 91163"/>
            </a:avLst>
          </a:prstGeom>
          <a:solidFill>
            <a:srgbClr val="F2F2F3"/>
          </a:solidFill>
          <a:ln/>
        </p:spPr>
      </p:sp>
      <p:sp>
        <p:nvSpPr>
          <p:cNvPr id="22" name="Text 20"/>
          <p:cNvSpPr/>
          <p:nvPr/>
        </p:nvSpPr>
        <p:spPr>
          <a:xfrm>
            <a:off x="7854672" y="5953006"/>
            <a:ext cx="268271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Invalidació per admin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854672" y="6461522"/>
            <a:ext cx="5768340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Event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admin:contentChanged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→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dataLoaded = false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→ recàrrega forçada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2228" y="495538"/>
            <a:ext cx="1592104" cy="305038"/>
          </a:xfrm>
          <a:prstGeom prst="roundRect">
            <a:avLst>
              <a:gd name="adj" fmla="val 18788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784503" y="546616"/>
            <a:ext cx="1387554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 4 — JAVASCRIPT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2228" y="859155"/>
            <a:ext cx="5763697" cy="532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Arquitectura de Mòduls ES6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682228" y="1758434"/>
            <a:ext cx="2369939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Graf de dependències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82228" y="2189678"/>
            <a:ext cx="7108984" cy="3639383"/>
          </a:xfrm>
          <a:prstGeom prst="roundRect">
            <a:avLst>
              <a:gd name="adj" fmla="val 1968"/>
            </a:avLst>
          </a:prstGeom>
          <a:solidFill>
            <a:srgbClr val="121212"/>
          </a:solidFill>
          <a:ln/>
        </p:spPr>
      </p:sp>
      <p:sp>
        <p:nvSpPr>
          <p:cNvPr id="7" name="Shape 5"/>
          <p:cNvSpPr/>
          <p:nvPr/>
        </p:nvSpPr>
        <p:spPr>
          <a:xfrm>
            <a:off x="673775" y="2189678"/>
            <a:ext cx="7125891" cy="3639383"/>
          </a:xfrm>
          <a:prstGeom prst="roundRect">
            <a:avLst>
              <a:gd name="adj" fmla="val 703"/>
            </a:avLst>
          </a:prstGeom>
          <a:solidFill>
            <a:srgbClr val="121212"/>
          </a:solidFill>
          <a:ln/>
        </p:spPr>
      </p:sp>
      <p:sp>
        <p:nvSpPr>
          <p:cNvPr id="8" name="Text 6"/>
          <p:cNvSpPr/>
          <p:nvPr/>
        </p:nvSpPr>
        <p:spPr>
          <a:xfrm>
            <a:off x="886897" y="2360176"/>
            <a:ext cx="6699647" cy="32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app.js (entry point)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router.js       → canvi de vista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dataLoader.js   → fetch + caché Map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renderer.js     → HTML + picture/SVG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filters.js      → multi-criteri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mapModule.js    → Leaflet lazy load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joc.js          → estat + 3 fases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favorites.js    → localStorage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calendar.js     → RFC 5545 + Blob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admin.js        → CRUD + checkAuth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profile.js      → edició perfil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solicituds.js   → flux promotor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└── config.js       → Supabase + apiFetch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14836" y="1758434"/>
            <a:ext cx="213193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apiFetch helper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214836" y="2171462"/>
            <a:ext cx="5740837" cy="768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Extreu automàticament el JWT de la sessió Supabase i l'injecta com 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…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en cada petició autenticada. Cap mòdul gestiona tokens manualment.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14836" y="3105031"/>
            <a:ext cx="5740837" cy="3639383"/>
          </a:xfrm>
          <a:prstGeom prst="roundRect">
            <a:avLst>
              <a:gd name="adj" fmla="val 1968"/>
            </a:avLst>
          </a:prstGeom>
          <a:solidFill>
            <a:srgbClr val="121212"/>
          </a:solidFill>
          <a:ln/>
        </p:spPr>
      </p:sp>
      <p:sp>
        <p:nvSpPr>
          <p:cNvPr id="12" name="Shape 10"/>
          <p:cNvSpPr/>
          <p:nvPr/>
        </p:nvSpPr>
        <p:spPr>
          <a:xfrm>
            <a:off x="8206383" y="3105031"/>
            <a:ext cx="5757743" cy="3639383"/>
          </a:xfrm>
          <a:prstGeom prst="roundRect">
            <a:avLst>
              <a:gd name="adj" fmla="val 703"/>
            </a:avLst>
          </a:prstGeom>
          <a:solidFill>
            <a:srgbClr val="121212"/>
          </a:solidFill>
          <a:ln/>
        </p:spPr>
      </p:sp>
      <p:sp>
        <p:nvSpPr>
          <p:cNvPr id="13" name="Text 11"/>
          <p:cNvSpPr/>
          <p:nvPr/>
        </p:nvSpPr>
        <p:spPr>
          <a:xfrm>
            <a:off x="8419505" y="3275528"/>
            <a:ext cx="5331500" cy="32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async function apiFetch(url, opts={})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const { data } = await supabase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.auth.getSession();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const token = data.session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?.access_token;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return fetch(url,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...opts,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headers: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...opts.headers,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Authorization:`Bearer ${token}`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});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14836" y="6909197"/>
            <a:ext cx="5740837" cy="659963"/>
          </a:xfrm>
          <a:prstGeom prst="roundRect">
            <a:avLst>
              <a:gd name="adj" fmla="val 10855"/>
            </a:avLst>
          </a:prstGeom>
          <a:solidFill>
            <a:srgbClr val="183A13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334" y="7156013"/>
            <a:ext cx="213122" cy="17049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768953" y="7098387"/>
            <a:ext cx="5016222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Sense frameworks pesats — Vanilla JS pur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628" y="519589"/>
            <a:ext cx="1535073" cy="290751"/>
          </a:xfrm>
          <a:prstGeom prst="roundRect">
            <a:avLst>
              <a:gd name="adj" fmla="val 18994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933212" y="568881"/>
            <a:ext cx="1337905" cy="192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 4 — JAVASCRIPT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4628" y="864751"/>
            <a:ext cx="5917525" cy="513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Filtres, DOM i Caché de Vistes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34628" y="1718429"/>
            <a:ext cx="277463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Filtres multi-criteri (filters.js)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4628" y="2128361"/>
            <a:ext cx="6279952" cy="5374243"/>
          </a:xfrm>
          <a:prstGeom prst="roundRect">
            <a:avLst>
              <a:gd name="adj" fmla="val 1284"/>
            </a:avLst>
          </a:prstGeom>
          <a:solidFill>
            <a:srgbClr val="121212"/>
          </a:solidFill>
          <a:ln/>
        </p:spPr>
      </p:sp>
      <p:sp>
        <p:nvSpPr>
          <p:cNvPr id="7" name="Shape 5"/>
          <p:cNvSpPr/>
          <p:nvPr/>
        </p:nvSpPr>
        <p:spPr>
          <a:xfrm>
            <a:off x="826413" y="2128361"/>
            <a:ext cx="6296382" cy="5374243"/>
          </a:xfrm>
          <a:prstGeom prst="roundRect">
            <a:avLst>
              <a:gd name="adj" fmla="val 459"/>
            </a:avLst>
          </a:prstGeom>
          <a:solidFill>
            <a:srgbClr val="121212"/>
          </a:solidFill>
          <a:ln/>
        </p:spPr>
      </p:sp>
      <p:sp>
        <p:nvSpPr>
          <p:cNvPr id="8" name="Text 6"/>
          <p:cNvSpPr/>
          <p:nvPr/>
        </p:nvSpPr>
        <p:spPr>
          <a:xfrm>
            <a:off x="1031796" y="2292668"/>
            <a:ext cx="5885617" cy="5045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Events: text + gènere + zona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        + categoria + rang dates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function filterEvents(events, {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text, genre, zone,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category, dateFrom, dateTo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}) {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return events.filter(ev =&gt; {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const matchText = !text ||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[ev.name, ev.description,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ev.location].some(f =&gt;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f?.toLowerCase()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.includes(text));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const matchDate =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(!dateFrom || ev.startDate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&gt;= dateFrom) &amp;&amp;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(!dateTo   || ev.startDate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&lt;= dateTo);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return matchText &amp;&amp; matchDate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// + gènere, zona, categoria…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});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23202" y="1718429"/>
            <a:ext cx="2172772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Protecció XSS i caché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23202" y="2128361"/>
            <a:ext cx="6279952" cy="4413171"/>
          </a:xfrm>
          <a:prstGeom prst="roundRect">
            <a:avLst>
              <a:gd name="adj" fmla="val 1564"/>
            </a:avLst>
          </a:prstGeom>
          <a:solidFill>
            <a:srgbClr val="121212"/>
          </a:solidFill>
          <a:ln/>
        </p:spPr>
      </p:sp>
      <p:sp>
        <p:nvSpPr>
          <p:cNvPr id="11" name="Shape 9"/>
          <p:cNvSpPr/>
          <p:nvPr/>
        </p:nvSpPr>
        <p:spPr>
          <a:xfrm>
            <a:off x="7514987" y="2128361"/>
            <a:ext cx="6296382" cy="4413171"/>
          </a:xfrm>
          <a:prstGeom prst="roundRect">
            <a:avLst>
              <a:gd name="adj" fmla="val 559"/>
            </a:avLst>
          </a:prstGeom>
          <a:solidFill>
            <a:srgbClr val="121212"/>
          </a:solidFill>
          <a:ln/>
        </p:spPr>
      </p:sp>
      <p:sp>
        <p:nvSpPr>
          <p:cNvPr id="12" name="Text 10"/>
          <p:cNvSpPr/>
          <p:nvPr/>
        </p:nvSpPr>
        <p:spPr>
          <a:xfrm>
            <a:off x="7720370" y="2292668"/>
            <a:ext cx="5885617" cy="4084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escapeHtml via textContent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function escapeHtml(str) {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const d = document.createElement('div');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d.textContent = str;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return d.innerHTML;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initializedViews evita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listeners duplicats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const initializedViews = new Set();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function initView(name, initFn) {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if (initializedViews.has(name))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return rerender(name);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initFn();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initializedViews.add(name);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23202" y="6694646"/>
            <a:ext cx="6279952" cy="862251"/>
          </a:xfrm>
          <a:prstGeom prst="roundRect">
            <a:avLst>
              <a:gd name="adj" fmla="val 8006"/>
            </a:avLst>
          </a:prstGeom>
          <a:solidFill>
            <a:srgbClr val="022349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7508" y="6931462"/>
            <a:ext cx="205383" cy="16430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057198" y="6871811"/>
            <a:ext cx="5581650" cy="480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Artistes i events re-renderitzen en cada visita per actualitzar l'estat dels favorits correctament.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04599"/>
            <a:ext cx="1853446" cy="373142"/>
          </a:xfrm>
          <a:prstGeom prst="roundRect">
            <a:avLst>
              <a:gd name="adj" fmla="val 17872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664131"/>
            <a:ext cx="16153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 4 — JAVASCRIPT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057037"/>
            <a:ext cx="1274183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APIs HTML5: Web Storage, Calendar i Geolocalització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793790" y="1974771"/>
            <a:ext cx="4215289" cy="5650111"/>
          </a:xfrm>
          <a:prstGeom prst="roundRect">
            <a:avLst>
              <a:gd name="adj" fmla="val 1978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5008" y="2195989"/>
            <a:ext cx="322933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Web Storage — favorites.js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15008" y="2625209"/>
            <a:ext cx="3772853" cy="1935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Claus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bauxa_fav_artists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bauxa_fav_events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(arrays JSON).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toggleFavorite()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dispara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CustomEvent('favoritesChanged')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→ el badge del navbar s'actualitza sense acoblament directe.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015008" y="4784169"/>
            <a:ext cx="3772853" cy="2619494"/>
          </a:xfrm>
          <a:prstGeom prst="roundRect">
            <a:avLst>
              <a:gd name="adj" fmla="val 3182"/>
            </a:avLst>
          </a:prstGeom>
          <a:solidFill>
            <a:srgbClr val="121212"/>
          </a:solidFill>
          <a:ln/>
        </p:spPr>
      </p:sp>
      <p:sp>
        <p:nvSpPr>
          <p:cNvPr id="9" name="Shape 7"/>
          <p:cNvSpPr/>
          <p:nvPr/>
        </p:nvSpPr>
        <p:spPr>
          <a:xfrm>
            <a:off x="1005126" y="4784169"/>
            <a:ext cx="3792617" cy="2619494"/>
          </a:xfrm>
          <a:prstGeom prst="roundRect">
            <a:avLst>
              <a:gd name="adj" fmla="val 1137"/>
            </a:avLst>
          </a:prstGeom>
          <a:solidFill>
            <a:srgbClr val="121212"/>
          </a:solidFill>
          <a:ln/>
        </p:spPr>
      </p:sp>
      <p:sp>
        <p:nvSpPr>
          <p:cNvPr id="10" name="Text 8"/>
          <p:cNvSpPr/>
          <p:nvPr/>
        </p:nvSpPr>
        <p:spPr>
          <a:xfrm>
            <a:off x="1253133" y="4982528"/>
            <a:ext cx="329660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localStorage.setItem(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'bauxa_fav_artists',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JSON.stringify(ids)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);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dispatchEvent(new CustomEvent(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'favoritesChanged'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));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207437" y="1974771"/>
            <a:ext cx="4215408" cy="5650111"/>
          </a:xfrm>
          <a:prstGeom prst="roundRect">
            <a:avLst>
              <a:gd name="adj" fmla="val 1977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8655" y="2195989"/>
            <a:ext cx="377297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Calendar RFC 5545 — calendar.js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428655" y="2935367"/>
            <a:ext cx="3772972" cy="1300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Genera fitxers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.ics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compatibles amb Apple Calendar, Google i Outlook via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Blob + URL.createObjectURL()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 Allibera memòria amb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revokeObjectURL()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28655" y="4459248"/>
            <a:ext cx="3772972" cy="2937034"/>
          </a:xfrm>
          <a:prstGeom prst="roundRect">
            <a:avLst>
              <a:gd name="adj" fmla="val 2838"/>
            </a:avLst>
          </a:prstGeom>
          <a:solidFill>
            <a:srgbClr val="121212"/>
          </a:solidFill>
          <a:ln/>
        </p:spPr>
      </p:sp>
      <p:sp>
        <p:nvSpPr>
          <p:cNvPr id="15" name="Shape 13"/>
          <p:cNvSpPr/>
          <p:nvPr/>
        </p:nvSpPr>
        <p:spPr>
          <a:xfrm>
            <a:off x="5418773" y="4459248"/>
            <a:ext cx="3792736" cy="2937034"/>
          </a:xfrm>
          <a:prstGeom prst="roundRect">
            <a:avLst>
              <a:gd name="adj" fmla="val 1014"/>
            </a:avLst>
          </a:prstGeom>
          <a:solidFill>
            <a:srgbClr val="121212"/>
          </a:solidFill>
          <a:ln/>
        </p:spPr>
      </p:sp>
      <p:sp>
        <p:nvSpPr>
          <p:cNvPr id="16" name="Text 14"/>
          <p:cNvSpPr/>
          <p:nvPr/>
        </p:nvSpPr>
        <p:spPr>
          <a:xfrm>
            <a:off x="5666780" y="4657606"/>
            <a:ext cx="329672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const blob = new Blob(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[icsContent],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{ type:'text/calendar' }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);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const url =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URL.createObjectURL(blob);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link.click();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URL.revokeObjectURL(url);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9621203" y="1974771"/>
            <a:ext cx="4215289" cy="5650111"/>
          </a:xfrm>
          <a:prstGeom prst="roundRect">
            <a:avLst>
              <a:gd name="adj" fmla="val 1978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42421" y="2195989"/>
            <a:ext cx="304204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Geolocalització — Leaflet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842421" y="2625209"/>
            <a:ext cx="3772853" cy="161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Coordenades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geo.latitude / geo.longitude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directes del JSON Schema.org.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fitBounds({padding:[30,30], maxZoom:12})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adapta el zoom als markers visibles automàticament.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90568" y="432316"/>
            <a:ext cx="1341596" cy="242411"/>
          </a:xfrm>
          <a:prstGeom prst="roundRect">
            <a:avLst>
              <a:gd name="adj" fmla="val 19773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1776055" y="475059"/>
            <a:ext cx="1170623" cy="156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 5 — MULTIMÈDIA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690568" y="715685"/>
            <a:ext cx="6839188" cy="445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Tipus de Media Integrats i Optimització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90568" y="1417558"/>
            <a:ext cx="3485436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Pipeline d'imatges AVIF → WebP → JPEG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90568" y="1755696"/>
            <a:ext cx="6030397" cy="2834521"/>
          </a:xfrm>
          <a:prstGeom prst="roundRect">
            <a:avLst>
              <a:gd name="adj" fmla="val 2114"/>
            </a:avLst>
          </a:prstGeom>
          <a:solidFill>
            <a:srgbClr val="121212"/>
          </a:solidFill>
          <a:ln/>
        </p:spPr>
      </p:sp>
      <p:sp>
        <p:nvSpPr>
          <p:cNvPr id="7" name="Shape 5"/>
          <p:cNvSpPr/>
          <p:nvPr/>
        </p:nvSpPr>
        <p:spPr>
          <a:xfrm>
            <a:off x="1683544" y="1755696"/>
            <a:ext cx="6044446" cy="2834521"/>
          </a:xfrm>
          <a:prstGeom prst="roundRect">
            <a:avLst>
              <a:gd name="adj" fmla="val 755"/>
            </a:avLst>
          </a:prstGeom>
          <a:solidFill>
            <a:srgbClr val="121212"/>
          </a:solidFill>
          <a:ln/>
        </p:spPr>
      </p:sp>
      <p:sp>
        <p:nvSpPr>
          <p:cNvPr id="8" name="Text 6"/>
          <p:cNvSpPr/>
          <p:nvPr/>
        </p:nvSpPr>
        <p:spPr>
          <a:xfrm>
            <a:off x="1861780" y="1898333"/>
            <a:ext cx="5687973" cy="2549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&lt;picture&gt;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&lt;source srcset="artista.avif"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type="image/avif"&gt;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&lt;source srcset="artista.webp"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type="image/webp"&gt;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&lt;img src="artista.jpg"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loading="lazy"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fetchpriority="auto"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alt="Nom Artista"&gt;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&lt;/picture&gt;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&lt;!-- Above-the-fold: --&gt;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&lt;img loading="eager"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fetchpriority="high"&gt;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0568" y="4705469"/>
            <a:ext cx="1783080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Àudio i Vídeo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90568" y="5043607"/>
            <a:ext cx="6030397" cy="2638425"/>
          </a:xfrm>
          <a:prstGeom prst="roundRect">
            <a:avLst>
              <a:gd name="adj" fmla="val 2271"/>
            </a:avLst>
          </a:prstGeom>
          <a:solidFill>
            <a:srgbClr val="121212"/>
          </a:solidFill>
          <a:ln/>
        </p:spPr>
      </p:sp>
      <p:sp>
        <p:nvSpPr>
          <p:cNvPr id="11" name="Shape 9"/>
          <p:cNvSpPr/>
          <p:nvPr/>
        </p:nvSpPr>
        <p:spPr>
          <a:xfrm>
            <a:off x="1683544" y="5043607"/>
            <a:ext cx="6044446" cy="2638425"/>
          </a:xfrm>
          <a:prstGeom prst="roundRect">
            <a:avLst>
              <a:gd name="adj" fmla="val 811"/>
            </a:avLst>
          </a:prstGeom>
          <a:solidFill>
            <a:srgbClr val="121212"/>
          </a:solidFill>
          <a:ln/>
        </p:spPr>
      </p:sp>
      <p:sp>
        <p:nvSpPr>
          <p:cNvPr id="12" name="Text 10"/>
          <p:cNvSpPr/>
          <p:nvPr/>
        </p:nvSpPr>
        <p:spPr>
          <a:xfrm>
            <a:off x="1861780" y="5186243"/>
            <a:ext cx="5687973" cy="2353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&lt;audio controls autoplay&gt;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&lt;source src="pista.m4a"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type="audio/mp4"&gt;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&lt;/audio&gt;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&lt;video controls autoplay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playsinline muted&gt;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&lt;source src="clip.webm"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type="video/webm"&gt;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&lt;source src="clip.mp4"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   type="video/mp4"&gt;</a:t>
            </a:r>
            <a:endParaRPr lang="en-US" sz="11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&lt;/video&gt;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76486" y="1417558"/>
            <a:ext cx="1783080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Formats per tipus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76486" y="1755696"/>
            <a:ext cx="4870728" cy="2400419"/>
          </a:xfrm>
          <a:prstGeom prst="roundRect">
            <a:avLst>
              <a:gd name="adj" fmla="val 249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7457" y="1832372"/>
            <a:ext cx="1328976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Tipus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49326" y="1832372"/>
            <a:ext cx="1325166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Format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67386" y="1832372"/>
            <a:ext cx="1328976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Fallback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7457" y="2174200"/>
            <a:ext cx="1328976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Imatge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49326" y="2174200"/>
            <a:ext cx="1325166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AVIF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67386" y="2174200"/>
            <a:ext cx="1328976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WebP / JPEG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7457" y="2516029"/>
            <a:ext cx="1328976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Logo hero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49326" y="2516029"/>
            <a:ext cx="1325166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SVG inline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67386" y="2516029"/>
            <a:ext cx="1328976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7457" y="2857857"/>
            <a:ext cx="1328976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Placeholder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49326" y="2857857"/>
            <a:ext cx="1325166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SVG generat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67386" y="2857857"/>
            <a:ext cx="1328976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7457" y="3199686"/>
            <a:ext cx="1328976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Àudio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49326" y="3199686"/>
            <a:ext cx="1325166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M4A (AAC)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67386" y="3199686"/>
            <a:ext cx="1328976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7457" y="3541514"/>
            <a:ext cx="1328976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Vídeo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49326" y="3541514"/>
            <a:ext cx="1325166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WebM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467386" y="3541514"/>
            <a:ext cx="1328976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MP4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7457" y="3883343"/>
            <a:ext cx="1328976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Icons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849326" y="3883343"/>
            <a:ext cx="1325166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Bootstrap CDN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467386" y="3883343"/>
            <a:ext cx="1328976" cy="196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async load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76486" y="4271367"/>
            <a:ext cx="4870728" cy="513040"/>
          </a:xfrm>
          <a:prstGeom prst="roundRect">
            <a:avLst>
              <a:gd name="adj" fmla="val 11678"/>
            </a:avLst>
          </a:prstGeom>
          <a:solidFill>
            <a:srgbClr val="252528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9123" y="4461867"/>
            <a:ext cx="178237" cy="142637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8539996" y="4409480"/>
            <a:ext cx="4264581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playsinline muted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al vídeo evita el bloqueig d'autoplay a Safari iOS.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7701" y="125492"/>
            <a:ext cx="5318998" cy="797849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9846" y="501134"/>
            <a:ext cx="1575316" cy="297775"/>
          </a:xfrm>
          <a:prstGeom prst="roundRect">
            <a:avLst>
              <a:gd name="adj" fmla="val 18896"/>
            </a:avLst>
          </a:prstGeom>
          <a:solidFill>
            <a:srgbClr val="252528"/>
          </a:solidFill>
          <a:ln/>
        </p:spPr>
      </p:sp>
      <p:sp>
        <p:nvSpPr>
          <p:cNvPr id="5" name="Text 2"/>
          <p:cNvSpPr/>
          <p:nvPr/>
        </p:nvSpPr>
        <p:spPr>
          <a:xfrm>
            <a:off x="770215" y="551259"/>
            <a:ext cx="1374577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 5 — MULTIMÈDIA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69846" y="855345"/>
            <a:ext cx="7804309" cy="1046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El Joc Musical: SVG Dinàmics i Plataformes Externes</a:t>
            </a:r>
            <a:endParaRPr lang="en-US" sz="3250" dirty="0"/>
          </a:p>
        </p:txBody>
      </p:sp>
      <p:sp>
        <p:nvSpPr>
          <p:cNvPr id="7" name="Text 4"/>
          <p:cNvSpPr/>
          <p:nvPr/>
        </p:nvSpPr>
        <p:spPr>
          <a:xfrm>
            <a:off x="669846" y="2255044"/>
            <a:ext cx="2524601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Estat centralitzat i lògica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69846" y="2675573"/>
            <a:ext cx="3697962" cy="4781788"/>
          </a:xfrm>
          <a:prstGeom prst="roundRect">
            <a:avLst>
              <a:gd name="adj" fmla="val 1902"/>
            </a:avLst>
          </a:prstGeom>
          <a:solidFill>
            <a:srgbClr val="121212"/>
          </a:solidFill>
          <a:ln/>
        </p:spPr>
      </p:sp>
      <p:sp>
        <p:nvSpPr>
          <p:cNvPr id="9" name="Shape 6"/>
          <p:cNvSpPr/>
          <p:nvPr/>
        </p:nvSpPr>
        <p:spPr>
          <a:xfrm>
            <a:off x="661511" y="2675573"/>
            <a:ext cx="3714631" cy="4781788"/>
          </a:xfrm>
          <a:prstGeom prst="roundRect">
            <a:avLst>
              <a:gd name="adj" fmla="val 676"/>
            </a:avLst>
          </a:prstGeom>
          <a:solidFill>
            <a:srgbClr val="121212"/>
          </a:solidFill>
          <a:ln/>
        </p:spPr>
      </p:sp>
      <p:sp>
        <p:nvSpPr>
          <p:cNvPr id="10" name="Text 7"/>
          <p:cNvSpPr/>
          <p:nvPr/>
        </p:nvSpPr>
        <p:spPr>
          <a:xfrm>
            <a:off x="870823" y="2842974"/>
            <a:ext cx="3296007" cy="444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const gameState = {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phase: 'setup', // playing|results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questions: [],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current: 0,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score: 0,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answered: false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};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Barreja Fisher-Yates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function shuffle(arr) {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for (let i = arr.length-1;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 i &gt; 0; i--) {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const j = Math.floor(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Math.random() * (i+1));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[arr[i],arr[j]] =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[arr[j],arr[i]];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}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7B72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83812" y="2255044"/>
            <a:ext cx="2227183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Integracions externes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783812" y="2675573"/>
            <a:ext cx="3697962" cy="1539716"/>
          </a:xfrm>
          <a:prstGeom prst="roundRect">
            <a:avLst>
              <a:gd name="adj" fmla="val 7127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60952" y="2675573"/>
            <a:ext cx="91440" cy="1539716"/>
          </a:xfrm>
          <a:prstGeom prst="roundRect">
            <a:avLst>
              <a:gd name="adj" fmla="val 76919"/>
            </a:avLst>
          </a:prstGeom>
          <a:solidFill>
            <a:srgbClr val="F2F2F3"/>
          </a:solidFill>
          <a:ln/>
        </p:spPr>
      </p:sp>
      <p:sp>
        <p:nvSpPr>
          <p:cNvPr id="14" name="Text 11"/>
          <p:cNvSpPr/>
          <p:nvPr/>
        </p:nvSpPr>
        <p:spPr>
          <a:xfrm>
            <a:off x="5042654" y="2865834"/>
            <a:ext cx="2093238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Spotify Embed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042654" y="3268623"/>
            <a:ext cx="3248858" cy="75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Badge d'artista → 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open.spotify.com/artist/{spotifyId}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 Iframe al modal amb 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loading="lazy"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83812" y="4356497"/>
            <a:ext cx="3697962" cy="1532096"/>
          </a:xfrm>
          <a:prstGeom prst="roundRect">
            <a:avLst>
              <a:gd name="adj" fmla="val 7162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60952" y="4356497"/>
            <a:ext cx="91440" cy="1532096"/>
          </a:xfrm>
          <a:prstGeom prst="roundRect">
            <a:avLst>
              <a:gd name="adj" fmla="val 76919"/>
            </a:avLst>
          </a:prstGeom>
          <a:solidFill>
            <a:srgbClr val="F2F2F3"/>
          </a:solidFill>
          <a:ln/>
        </p:spPr>
      </p:sp>
      <p:sp>
        <p:nvSpPr>
          <p:cNvPr id="18" name="Text 15"/>
          <p:cNvSpPr/>
          <p:nvPr/>
        </p:nvSpPr>
        <p:spPr>
          <a:xfrm>
            <a:off x="5042654" y="4546759"/>
            <a:ext cx="2564725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OpenStreetMap + Leaflet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42654" y="4949547"/>
            <a:ext cx="3248858" cy="748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Tiles 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tile.openstreetmap.org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 Markers SVG inline per categoria: terracota (concert), or (festival), verd (festa popular).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783812" y="6029801"/>
            <a:ext cx="3697962" cy="1539716"/>
          </a:xfrm>
          <a:prstGeom prst="roundRect">
            <a:avLst>
              <a:gd name="adj" fmla="val 7127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60952" y="6029801"/>
            <a:ext cx="91440" cy="1539716"/>
          </a:xfrm>
          <a:prstGeom prst="roundRect">
            <a:avLst>
              <a:gd name="adj" fmla="val 76919"/>
            </a:avLst>
          </a:prstGeom>
          <a:solidFill>
            <a:srgbClr val="F2F2F3"/>
          </a:solidFill>
          <a:ln/>
        </p:spPr>
      </p:sp>
      <p:sp>
        <p:nvSpPr>
          <p:cNvPr id="22" name="Text 19"/>
          <p:cNvSpPr/>
          <p:nvPr/>
        </p:nvSpPr>
        <p:spPr>
          <a:xfrm>
            <a:off x="5042654" y="6220063"/>
            <a:ext cx="235005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 formats de pregunta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42654" y="6622852"/>
            <a:ext cx="3248858" cy="75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AudioObject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ImageObject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VideoObject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normalitzats via 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normalizeQuestion()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desde Schema.org.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4260" y="516731"/>
            <a:ext cx="2053828" cy="342067"/>
          </a:xfrm>
          <a:prstGeom prst="roundRect">
            <a:avLst>
              <a:gd name="adj" fmla="val 18277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855821" y="572453"/>
            <a:ext cx="1830705" cy="230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 6 — WEB SEMÀNTICA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4260" y="928568"/>
            <a:ext cx="7069455" cy="581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Web Semàntica, JSON-LD i SEO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744260" y="1945958"/>
            <a:ext cx="374308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Vocabulari Schema.org complet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44260" y="2432804"/>
            <a:ext cx="744260" cy="1125379"/>
          </a:xfrm>
          <a:prstGeom prst="roundRect">
            <a:avLst>
              <a:gd name="adj" fmla="val 36000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62946" y="2618780"/>
            <a:ext cx="2932748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MusicGroup + MusicEvent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62946" y="3083838"/>
            <a:ext cx="5425321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Tipus principals d'entitats culturals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4260" y="3732609"/>
            <a:ext cx="744260" cy="1125379"/>
          </a:xfrm>
          <a:prstGeom prst="roundRect">
            <a:avLst>
              <a:gd name="adj" fmla="val 36000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62946" y="3918585"/>
            <a:ext cx="2806422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GeoCoordinates + Place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62946" y="4383643"/>
            <a:ext cx="5425321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Ubicació indexable per Google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4260" y="5032415"/>
            <a:ext cx="744260" cy="1125379"/>
          </a:xfrm>
          <a:prstGeom prst="roundRect">
            <a:avLst>
              <a:gd name="adj" fmla="val 36000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62946" y="5218390"/>
            <a:ext cx="2466499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Offer + PostalAddress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62946" y="5683448"/>
            <a:ext cx="5425321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Rich snippets de preus i adreces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44260" y="6332220"/>
            <a:ext cx="744260" cy="1125379"/>
          </a:xfrm>
          <a:prstGeom prst="roundRect">
            <a:avLst>
              <a:gd name="adj" fmla="val 36000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62946" y="6518196"/>
            <a:ext cx="2325767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Question + Answer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62946" y="6983254"/>
            <a:ext cx="5425321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Preguntes del joc estructurades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549753" y="1945958"/>
            <a:ext cx="2771299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SEO tècnic implementat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549753" y="2432804"/>
            <a:ext cx="6344007" cy="3832384"/>
          </a:xfrm>
          <a:prstGeom prst="roundRect">
            <a:avLst>
              <a:gd name="adj" fmla="val 2039"/>
            </a:avLst>
          </a:prstGeom>
          <a:solidFill>
            <a:srgbClr val="121212"/>
          </a:solidFill>
          <a:ln/>
        </p:spPr>
      </p:sp>
      <p:sp>
        <p:nvSpPr>
          <p:cNvPr id="20" name="Shape 18"/>
          <p:cNvSpPr/>
          <p:nvPr/>
        </p:nvSpPr>
        <p:spPr>
          <a:xfrm>
            <a:off x="7540466" y="2432804"/>
            <a:ext cx="6362581" cy="3832384"/>
          </a:xfrm>
          <a:prstGeom prst="roundRect">
            <a:avLst>
              <a:gd name="adj" fmla="val 728"/>
            </a:avLst>
          </a:prstGeom>
          <a:solidFill>
            <a:srgbClr val="12121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995" y="2618780"/>
            <a:ext cx="5897523" cy="3460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&lt;!-- Status com Schema.org URIs --&gt;</a:t>
            </a:r>
            <a:endParaRPr lang="en-US" sz="145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"eventStatus":</a:t>
            </a:r>
            <a:endParaRPr lang="en-US" sz="145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"https://schema.org/EventScheduled"</a:t>
            </a:r>
            <a:endParaRPr lang="en-US" sz="145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"eventAttendanceMode":</a:t>
            </a:r>
            <a:endParaRPr lang="en-US" sz="145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"https://schema.org/</a:t>
            </a:r>
            <a:endParaRPr lang="en-US" sz="145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OfflineEventAttendanceMode"</a:t>
            </a:r>
            <a:endParaRPr lang="en-US" sz="1450" dirty="0"/>
          </a:p>
          <a:p>
            <a:pPr algn="l" indent="0" marL="0">
              <a:lnSpc>
                <a:spcPts val="2250"/>
              </a:lnSpc>
              <a:buNone/>
            </a:pPr>
            <a:endParaRPr lang="en-US" sz="145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&lt;!-- Sol·licituds --&gt;</a:t>
            </a:r>
            <a:endParaRPr lang="en-US" sz="145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"actionStatus":</a:t>
            </a:r>
            <a:endParaRPr lang="en-US" sz="145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"PotentialActionStatus" |</a:t>
            </a:r>
            <a:endParaRPr lang="en-US" sz="145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"CompletedActionStatus" |</a:t>
            </a:r>
            <a:endParaRPr lang="en-US" sz="145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"FailedActionStatus"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549753" y="6461403"/>
            <a:ext cx="6344007" cy="1055132"/>
          </a:xfrm>
          <a:prstGeom prst="roundRect">
            <a:avLst>
              <a:gd name="adj" fmla="val 7407"/>
            </a:avLst>
          </a:prstGeom>
          <a:solidFill>
            <a:srgbClr val="022349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5729" y="6736794"/>
            <a:ext cx="232529" cy="18597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154233" y="6682264"/>
            <a:ext cx="5553551" cy="58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Redirect 301 de </a:t>
            </a:r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FFFFF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donam-bauxa.vercel.app</a:t>
            </a:r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→ </a:t>
            </a:r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FFFFF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donambauxa.online</a:t>
            </a:r>
            <a:pPr algn="l" indent="0" marL="0">
              <a:lnSpc>
                <a:spcPts val="22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consolida tota l'autoritat de domini per SEO.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58315"/>
            <a:ext cx="2112526" cy="373142"/>
          </a:xfrm>
          <a:prstGeom prst="roundRect">
            <a:avLst>
              <a:gd name="adj" fmla="val 17872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817846"/>
            <a:ext cx="187440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 7 — ACCESSIBILITAT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210753"/>
            <a:ext cx="688693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Accessibilitat (WCAG / ARIA)</a:t>
            </a:r>
            <a:endParaRPr lang="en-US" sz="3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128486"/>
            <a:ext cx="396835" cy="3968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8632" y="31967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Atributs ARIA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438632" y="3625929"/>
            <a:ext cx="5752505" cy="97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aria-label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en tots els botons d'icona.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aria-live="polite"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al HUD de puntuació.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role="progressbar"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+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aria-valuenow/min/max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 la barra de progrés del joc.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role="group"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als grups d'opcions.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9144" y="3128486"/>
            <a:ext cx="396835" cy="3968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83987" y="31967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Focus Management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8083987" y="3625929"/>
            <a:ext cx="5752624" cy="96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Quan l'usuari respon una pregunta,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nextBtn.focus()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mou el focus automàticament al botó de continuar, facilitant la navegació per teclat sense interrupcions.</a:t>
            </a:r>
            <a:endParaRPr lang="en-US" sz="15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98244"/>
            <a:ext cx="396835" cy="3968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38632" y="5066467"/>
            <a:ext cx="309860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Àudio i Vídeo Accessibles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1438632" y="5495687"/>
            <a:ext cx="5752505" cy="97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&lt;audio controls&gt;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 controls&gt;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deleguen al sistema operatiu via Media Session API.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aria-label="Clip de vídeo per endevinar"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descriu el contingut.</a:t>
            </a:r>
            <a:endParaRPr lang="en-US" sz="15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9144" y="4998244"/>
            <a:ext cx="396835" cy="39683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83987" y="5066467"/>
            <a:ext cx="25796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Estructura i Textos Alt</a:t>
            </a:r>
            <a:endParaRPr lang="en-US" sz="1950" dirty="0"/>
          </a:p>
        </p:txBody>
      </p:sp>
      <p:sp>
        <p:nvSpPr>
          <p:cNvPr id="16" name="Text 10"/>
          <p:cNvSpPr/>
          <p:nvPr/>
        </p:nvSpPr>
        <p:spPr>
          <a:xfrm>
            <a:off x="8083987" y="5495687"/>
            <a:ext cx="5752624" cy="96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Estructura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&lt;header&gt;/&lt;main&gt;/&lt;footer&gt;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per navegació ràpida amb Tab. Totes les imatges i SVG placeholder inclouen atribut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descriptiu.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628" y="515779"/>
            <a:ext cx="1519118" cy="290751"/>
          </a:xfrm>
          <a:prstGeom prst="roundRect">
            <a:avLst>
              <a:gd name="adj" fmla="val 18994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933212" y="565071"/>
            <a:ext cx="1321951" cy="192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 8 — RENDIMENT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4628" y="860941"/>
            <a:ext cx="5755243" cy="513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Rendiment i Core Web Vitals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34628" y="1714619"/>
            <a:ext cx="2769394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Optimitzacions per mètrica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4628" y="2124551"/>
            <a:ext cx="3405902" cy="1224915"/>
          </a:xfrm>
          <a:prstGeom prst="roundRect">
            <a:avLst>
              <a:gd name="adj" fmla="val 5636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6554" y="2296477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LCP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6554" y="2689384"/>
            <a:ext cx="3062049" cy="480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Logo SVG Hero </a:t>
            </a:r>
            <a:pPr algn="l" indent="0" marL="0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inline</a:t>
            </a:r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→ temps de càrrega </a:t>
            </a:r>
            <a:pPr algn="l" indent="0" marL="0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0ms</a:t>
            </a:r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(parsejat amb el HTML)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6618" y="2124551"/>
            <a:ext cx="3406021" cy="1224915"/>
          </a:xfrm>
          <a:prstGeom prst="roundRect">
            <a:avLst>
              <a:gd name="adj" fmla="val 5636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8545" y="2296477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48545" y="2689384"/>
            <a:ext cx="3062168" cy="488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Skeleton loaders amb </a:t>
            </a:r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fix → reserva l'espai mentre les targetes carreguen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4628" y="3485555"/>
            <a:ext cx="6948011" cy="1232535"/>
          </a:xfrm>
          <a:prstGeom prst="roundRect">
            <a:avLst>
              <a:gd name="adj" fmla="val 560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6554" y="3657481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TTI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6554" y="4050387"/>
            <a:ext cx="6604159" cy="49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rel="modulepreload"</a:t>
            </a:r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per mòduls JS crítics + Bootstrap Icons asíncron (</a:t>
            </a:r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media="print"→"all"</a:t>
            </a:r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91262" y="1714619"/>
            <a:ext cx="228314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Tècniques addicionals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91262" y="2124551"/>
            <a:ext cx="5611892" cy="4413171"/>
          </a:xfrm>
          <a:prstGeom prst="roundRect">
            <a:avLst>
              <a:gd name="adj" fmla="val 1564"/>
            </a:avLst>
          </a:prstGeom>
          <a:solidFill>
            <a:srgbClr val="121212"/>
          </a:solidFill>
          <a:ln/>
        </p:spPr>
      </p:sp>
      <p:sp>
        <p:nvSpPr>
          <p:cNvPr id="17" name="Shape 15"/>
          <p:cNvSpPr/>
          <p:nvPr/>
        </p:nvSpPr>
        <p:spPr>
          <a:xfrm>
            <a:off x="8183047" y="2124551"/>
            <a:ext cx="5628323" cy="4413171"/>
          </a:xfrm>
          <a:prstGeom prst="roundRect">
            <a:avLst>
              <a:gd name="adj" fmla="val 559"/>
            </a:avLst>
          </a:prstGeom>
          <a:solidFill>
            <a:srgbClr val="121212"/>
          </a:solidFill>
          <a:ln/>
        </p:spPr>
      </p:sp>
      <p:sp>
        <p:nvSpPr>
          <p:cNvPr id="18" name="Text 16"/>
          <p:cNvSpPr/>
          <p:nvPr/>
        </p:nvSpPr>
        <p:spPr>
          <a:xfrm>
            <a:off x="8388429" y="2288858"/>
            <a:ext cx="5217557" cy="4084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&lt;!-- Preconnect a CDNs --&gt;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&lt;link rel="preconnect"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href="https://cdn.supabase.co"&gt;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&lt;link rel="preconnect"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href="https://cdn.jsdelivr.net"&gt;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&lt;!-- Mòduls crítics --&gt;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&lt;link rel="modulepreload"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href="/js/app.js"&gt;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&lt;link rel="modulepreload"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href="/js/router.js"&gt;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&lt;!-- Icons async --&gt;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&lt;link rel="stylesheet"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href="bootstrap-icons.css"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media="print"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onload="this.media='all'"&gt;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91262" y="6690836"/>
            <a:ext cx="5611892" cy="869871"/>
          </a:xfrm>
          <a:prstGeom prst="roundRect">
            <a:avLst>
              <a:gd name="adj" fmla="val 7936"/>
            </a:avLst>
          </a:prstGeom>
          <a:solidFill>
            <a:srgbClr val="183A13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568" y="6927652"/>
            <a:ext cx="205383" cy="16430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725257" y="6868001"/>
            <a:ext cx="4913590" cy="488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Leaflet es carrega sota demanda en la primera visita a </a:t>
            </a:r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FFFFF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#map</a:t>
            </a:r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mai en el carregament inicial.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628" y="500896"/>
            <a:ext cx="1313259" cy="290751"/>
          </a:xfrm>
          <a:prstGeom prst="roundRect">
            <a:avLst>
              <a:gd name="adj" fmla="val 18994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933212" y="550188"/>
            <a:ext cx="1116092" cy="192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 8 — TESTING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4628" y="846058"/>
            <a:ext cx="7425095" cy="513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Proves Funcionals i Eines d'Avaluació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34628" y="1699736"/>
            <a:ext cx="2661404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Casos de prova principals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4628" y="2109668"/>
            <a:ext cx="32861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34628" y="2366129"/>
            <a:ext cx="6948011" cy="2286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8" name="Text 6"/>
          <p:cNvSpPr/>
          <p:nvPr/>
        </p:nvSpPr>
        <p:spPr>
          <a:xfrm>
            <a:off x="834628" y="2494002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Filtres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4628" y="2886908"/>
            <a:ext cx="6948011" cy="480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Combinació simultània: text + gènere + zona + rang de dates — resultats coherents en tots els casos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34628" y="3626763"/>
            <a:ext cx="32861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4628" y="3883223"/>
            <a:ext cx="6948011" cy="2286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2" name="Text 10"/>
          <p:cNvSpPr/>
          <p:nvPr/>
        </p:nvSpPr>
        <p:spPr>
          <a:xfrm>
            <a:off x="834628" y="4011097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Joc Musical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4628" y="4404003"/>
            <a:ext cx="6948011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Selecció correcta/incorrecta, barra de progrés, pantalla de resultats i "Jugar de nou"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4628" y="4903589"/>
            <a:ext cx="32861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4628" y="5160050"/>
            <a:ext cx="6948011" cy="2286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6" name="Text 14"/>
          <p:cNvSpPr/>
          <p:nvPr/>
        </p:nvSpPr>
        <p:spPr>
          <a:xfrm>
            <a:off x="834628" y="5287923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Favorits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4628" y="5680829"/>
            <a:ext cx="6948011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Afegir/treure → badge navbar actualitzat + vista Favorits reflecteix canvis instantàniament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4628" y="6180415"/>
            <a:ext cx="32861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34628" y="6436876"/>
            <a:ext cx="6948011" cy="2286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20" name="Text 18"/>
          <p:cNvSpPr/>
          <p:nvPr/>
        </p:nvSpPr>
        <p:spPr>
          <a:xfrm>
            <a:off x="834628" y="6564749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Admin CRUD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4628" y="6957655"/>
            <a:ext cx="6948011" cy="480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Crear, editar, arxivar i esborrar per a artistes, events i notícies. Auth: canvi de rol → efecte immediat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91262" y="1699736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Eines d'avaluació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91262" y="2109668"/>
            <a:ext cx="5611892" cy="1015127"/>
          </a:xfrm>
          <a:prstGeom prst="roundRect">
            <a:avLst>
              <a:gd name="adj" fmla="val 10809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68402" y="2109668"/>
            <a:ext cx="91440" cy="1015127"/>
          </a:xfrm>
          <a:prstGeom prst="roundRect">
            <a:avLst>
              <a:gd name="adj" fmla="val 75494"/>
            </a:avLst>
          </a:prstGeom>
          <a:solidFill>
            <a:srgbClr val="F2F2F3"/>
          </a:solidFill>
          <a:ln/>
        </p:spPr>
      </p:sp>
      <p:sp>
        <p:nvSpPr>
          <p:cNvPr id="25" name="Text 23"/>
          <p:cNvSpPr/>
          <p:nvPr/>
        </p:nvSpPr>
        <p:spPr>
          <a:xfrm>
            <a:off x="8447008" y="2296835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Lighthouse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47008" y="2689741"/>
            <a:ext cx="5168979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Core Web Vitals + accessibilitat. </a:t>
            </a:r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report.json</a:t>
            </a:r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inclòs al repositori.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91262" y="3260884"/>
            <a:ext cx="5611892" cy="1007507"/>
          </a:xfrm>
          <a:prstGeom prst="roundRect">
            <a:avLst>
              <a:gd name="adj" fmla="val 10891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68402" y="3260884"/>
            <a:ext cx="91440" cy="1007507"/>
          </a:xfrm>
          <a:prstGeom prst="roundRect">
            <a:avLst>
              <a:gd name="adj" fmla="val 75494"/>
            </a:avLst>
          </a:prstGeom>
          <a:solidFill>
            <a:srgbClr val="F2F2F3"/>
          </a:solidFill>
          <a:ln/>
        </p:spPr>
      </p:sp>
      <p:sp>
        <p:nvSpPr>
          <p:cNvPr id="29" name="Text 27"/>
          <p:cNvSpPr/>
          <p:nvPr/>
        </p:nvSpPr>
        <p:spPr>
          <a:xfrm>
            <a:off x="8447008" y="3448050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WAVE / Axe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47008" y="3840956"/>
            <a:ext cx="5168979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Detecció d'errors d'accessibilitat i contrast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191262" y="4404479"/>
            <a:ext cx="5611892" cy="1007507"/>
          </a:xfrm>
          <a:prstGeom prst="roundRect">
            <a:avLst>
              <a:gd name="adj" fmla="val 10891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68402" y="4404479"/>
            <a:ext cx="91440" cy="1007507"/>
          </a:xfrm>
          <a:prstGeom prst="roundRect">
            <a:avLst>
              <a:gd name="adj" fmla="val 75494"/>
            </a:avLst>
          </a:prstGeom>
          <a:solidFill>
            <a:srgbClr val="F2F2F3"/>
          </a:solidFill>
          <a:ln/>
        </p:spPr>
      </p:sp>
      <p:sp>
        <p:nvSpPr>
          <p:cNvPr id="33" name="Text 31"/>
          <p:cNvSpPr/>
          <p:nvPr/>
        </p:nvSpPr>
        <p:spPr>
          <a:xfrm>
            <a:off x="8447008" y="4591645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DevTools Network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47008" y="4984552"/>
            <a:ext cx="5168979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0 peticions duplicades en navegació repetida — caché verificada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91262" y="5565100"/>
            <a:ext cx="5611892" cy="2010489"/>
          </a:xfrm>
          <a:prstGeom prst="roundRect">
            <a:avLst>
              <a:gd name="adj" fmla="val 3434"/>
            </a:avLst>
          </a:prstGeom>
          <a:solidFill>
            <a:srgbClr val="121212"/>
          </a:solidFill>
          <a:ln/>
        </p:spPr>
      </p:sp>
      <p:sp>
        <p:nvSpPr>
          <p:cNvPr id="36" name="Shape 34"/>
          <p:cNvSpPr/>
          <p:nvPr/>
        </p:nvSpPr>
        <p:spPr>
          <a:xfrm>
            <a:off x="8183047" y="5565100"/>
            <a:ext cx="5628323" cy="2010489"/>
          </a:xfrm>
          <a:prstGeom prst="roundRect">
            <a:avLst>
              <a:gd name="adj" fmla="val 1226"/>
            </a:avLst>
          </a:prstGeom>
          <a:solidFill>
            <a:srgbClr val="121212"/>
          </a:solidFill>
          <a:ln/>
        </p:spPr>
      </p:sp>
      <p:sp>
        <p:nvSpPr>
          <p:cNvPr id="37" name="Text 35"/>
          <p:cNvSpPr/>
          <p:nvPr/>
        </p:nvSpPr>
        <p:spPr>
          <a:xfrm>
            <a:off x="8388429" y="5729407"/>
            <a:ext cx="5217557" cy="1681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Càrrega en paral·lel al primer accés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await Promise.all([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loadArtists(),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loadEvents(),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loadNews(),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loadExternEvents()</a:t>
            </a:r>
            <a:endParaRPr lang="en-US" sz="1250" dirty="0"/>
          </a:p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]);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611" y="553045"/>
            <a:ext cx="1882378" cy="312420"/>
          </a:xfrm>
          <a:prstGeom prst="roundRect">
            <a:avLst>
              <a:gd name="adj" fmla="val 18677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798790" y="605076"/>
            <a:ext cx="1674019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 9 — DESPLEGAMENT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94611" y="926187"/>
            <a:ext cx="8604409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Git, Vercel i Desplegament en Producció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94611" y="1848683"/>
            <a:ext cx="2581394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Configuració vercel.json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94611" y="2290763"/>
            <a:ext cx="6408777" cy="3473291"/>
          </a:xfrm>
          <a:prstGeom prst="roundRect">
            <a:avLst>
              <a:gd name="adj" fmla="val 2100"/>
            </a:avLst>
          </a:prstGeom>
          <a:solidFill>
            <a:srgbClr val="121212"/>
          </a:solidFill>
          <a:ln/>
        </p:spPr>
      </p:sp>
      <p:sp>
        <p:nvSpPr>
          <p:cNvPr id="7" name="Shape 5"/>
          <p:cNvSpPr/>
          <p:nvPr/>
        </p:nvSpPr>
        <p:spPr>
          <a:xfrm>
            <a:off x="686038" y="2290763"/>
            <a:ext cx="6425922" cy="3473291"/>
          </a:xfrm>
          <a:prstGeom prst="roundRect">
            <a:avLst>
              <a:gd name="adj" fmla="val 750"/>
            </a:avLst>
          </a:prstGeom>
          <a:solidFill>
            <a:srgbClr val="121212"/>
          </a:solidFill>
          <a:ln/>
        </p:spPr>
      </p:sp>
      <p:sp>
        <p:nvSpPr>
          <p:cNvPr id="8" name="Text 6"/>
          <p:cNvSpPr/>
          <p:nvPr/>
        </p:nvSpPr>
        <p:spPr>
          <a:xfrm>
            <a:off x="903089" y="2464356"/>
            <a:ext cx="5991820" cy="3126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{</a:t>
            </a:r>
            <a:endParaRPr lang="en-US" sz="135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"version": 2,</a:t>
            </a:r>
            <a:endParaRPr lang="en-US" sz="135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"routes": [</a:t>
            </a:r>
            <a:endParaRPr lang="en-US" sz="135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{</a:t>
            </a:r>
            <a:endParaRPr lang="en-US" sz="135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"src": "/(.*)",</a:t>
            </a:r>
            <a:endParaRPr lang="en-US" sz="135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"dest": "/server.js"</a:t>
            </a:r>
            <a:endParaRPr lang="en-US" sz="135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}</a:t>
            </a:r>
            <a:endParaRPr lang="en-US" sz="135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],</a:t>
            </a:r>
            <a:endParaRPr lang="en-US" sz="135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"env": {</a:t>
            </a:r>
            <a:endParaRPr lang="en-US" sz="135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"NODE_ENV": "production"</a:t>
            </a:r>
            <a:endParaRPr lang="en-US" sz="135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}</a:t>
            </a:r>
            <a:endParaRPr lang="en-US" sz="135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4611" y="5934908"/>
            <a:ext cx="4127897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Variables d'entorn (Vercel Dashboard)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94611" y="6376987"/>
            <a:ext cx="6408777" cy="1128713"/>
          </a:xfrm>
          <a:prstGeom prst="roundRect">
            <a:avLst>
              <a:gd name="adj" fmla="val 6462"/>
            </a:avLst>
          </a:prstGeom>
          <a:solidFill>
            <a:srgbClr val="121212"/>
          </a:solidFill>
          <a:ln/>
        </p:spPr>
      </p:sp>
      <p:sp>
        <p:nvSpPr>
          <p:cNvPr id="11" name="Shape 9"/>
          <p:cNvSpPr/>
          <p:nvPr/>
        </p:nvSpPr>
        <p:spPr>
          <a:xfrm>
            <a:off x="686038" y="6376987"/>
            <a:ext cx="6425922" cy="1128713"/>
          </a:xfrm>
          <a:prstGeom prst="roundRect">
            <a:avLst>
              <a:gd name="adj" fmla="val 2308"/>
            </a:avLst>
          </a:prstGeom>
          <a:solidFill>
            <a:srgbClr val="121212"/>
          </a:solidFill>
          <a:ln/>
        </p:spPr>
      </p:sp>
      <p:sp>
        <p:nvSpPr>
          <p:cNvPr id="12" name="Text 10"/>
          <p:cNvSpPr/>
          <p:nvPr/>
        </p:nvSpPr>
        <p:spPr>
          <a:xfrm>
            <a:off x="903089" y="6550581"/>
            <a:ext cx="5991820" cy="78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SUPABASE_URL=https://xxx.supabase.co</a:t>
            </a:r>
            <a:endParaRPr lang="en-US" sz="135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SUPABASE_SERVICE_KEY=eyJ…</a:t>
            </a:r>
            <a:endParaRPr lang="en-US" sz="1350" dirty="0"/>
          </a:p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NODE_ENV=production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534632" y="1848683"/>
            <a:ext cx="3552111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Aspectes clau del desplegament</a:t>
            </a:r>
            <a:endParaRPr lang="en-US" sz="17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9759" y="2296061"/>
            <a:ext cx="260390" cy="26039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098869" y="2290763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Deploy automàtic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098869" y="2713911"/>
            <a:ext cx="5844540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Cada push a la branca 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desplega a producció automàticament</a:t>
            </a:r>
            <a:endParaRPr lang="en-US" sz="13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9759" y="3291185"/>
            <a:ext cx="260390" cy="26039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98869" y="3285887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Redirect 301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8098869" y="3709035"/>
            <a:ext cx="5844540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donam-bauxa.vercel.app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→ 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donambauxa.online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per consolidar domain authority</a:t>
            </a:r>
            <a:endParaRPr lang="en-US" sz="13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9759" y="4546818"/>
            <a:ext cx="260390" cy="26039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98869" y="4541520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EROFS (Vercel)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098869" y="4964668"/>
            <a:ext cx="5844540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Filesystem de només lectura en producció → escriptures JSON capturades amb 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try/catch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sense crash del servidor</a:t>
            </a:r>
            <a:endParaRPr lang="en-US" sz="13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99759" y="5802451"/>
            <a:ext cx="260390" cy="26039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98869" y="5797153"/>
            <a:ext cx="2629495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Mock local de Supabase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8098869" y="6220301"/>
            <a:ext cx="5844540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Si 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SUPABASE_URL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no és definit → 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role: 'admin'</a:t>
            </a:r>
            <a:pPr algn="l" indent="0" marL="0">
              <a:lnSpc>
                <a:spcPts val="20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per defecte, sense configuració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642" y="698778"/>
            <a:ext cx="1813322" cy="349687"/>
          </a:xfrm>
          <a:prstGeom prst="roundRect">
            <a:avLst>
              <a:gd name="adj" fmla="val 18177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870109" y="755452"/>
            <a:ext cx="1586389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 10 — SEGURETAT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56642" y="1120497"/>
            <a:ext cx="7696676" cy="59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Seguretat: HTTPS, JWT, CORS i XSS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756642" y="1982033"/>
            <a:ext cx="4252198" cy="4550926"/>
          </a:xfrm>
          <a:prstGeom prst="roundRect">
            <a:avLst>
              <a:gd name="adj" fmla="val 1868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8573" y="2193965"/>
            <a:ext cx="2503884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JWT Doble Verificació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968573" y="2692241"/>
            <a:ext cx="3828336" cy="3628787"/>
          </a:xfrm>
          <a:prstGeom prst="roundRect">
            <a:avLst>
              <a:gd name="adj" fmla="val 2189"/>
            </a:avLst>
          </a:prstGeom>
          <a:solidFill>
            <a:srgbClr val="121212"/>
          </a:solidFill>
          <a:ln/>
        </p:spPr>
      </p:sp>
      <p:sp>
        <p:nvSpPr>
          <p:cNvPr id="8" name="Shape 6"/>
          <p:cNvSpPr/>
          <p:nvPr/>
        </p:nvSpPr>
        <p:spPr>
          <a:xfrm>
            <a:off x="959167" y="2692241"/>
            <a:ext cx="3847148" cy="3628787"/>
          </a:xfrm>
          <a:prstGeom prst="roundRect">
            <a:avLst>
              <a:gd name="adj" fmla="val 782"/>
            </a:avLst>
          </a:prstGeom>
          <a:solidFill>
            <a:srgbClr val="121212"/>
          </a:solidFill>
          <a:ln/>
        </p:spPr>
      </p:sp>
      <p:sp>
        <p:nvSpPr>
          <p:cNvPr id="9" name="Text 7"/>
          <p:cNvSpPr/>
          <p:nvPr/>
        </p:nvSpPr>
        <p:spPr>
          <a:xfrm>
            <a:off x="1195626" y="2881313"/>
            <a:ext cx="3374231" cy="325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1. Verifica signatura + caducitat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const { data, error } =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await supabase.auth.getUser(token);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2. Comprova rol actual a la DB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const user = await db.query(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'SELECT * FROM users WHERE id=$1',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[data.user.id]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);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if (user.role !== requiredRole)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return res.status(403).json(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{ error: 'Forbidden' });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189101" y="1982033"/>
            <a:ext cx="4252198" cy="4550926"/>
          </a:xfrm>
          <a:prstGeom prst="roundRect">
            <a:avLst>
              <a:gd name="adj" fmla="val 1868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01032" y="2193965"/>
            <a:ext cx="2364581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CORS + SRI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5401032" y="2692241"/>
            <a:ext cx="3828336" cy="3333274"/>
          </a:xfrm>
          <a:prstGeom prst="roundRect">
            <a:avLst>
              <a:gd name="adj" fmla="val 2384"/>
            </a:avLst>
          </a:prstGeom>
          <a:solidFill>
            <a:srgbClr val="121212"/>
          </a:solidFill>
          <a:ln/>
        </p:spPr>
      </p:sp>
      <p:sp>
        <p:nvSpPr>
          <p:cNvPr id="13" name="Shape 11"/>
          <p:cNvSpPr/>
          <p:nvPr/>
        </p:nvSpPr>
        <p:spPr>
          <a:xfrm>
            <a:off x="5391626" y="2692241"/>
            <a:ext cx="3847148" cy="3333274"/>
          </a:xfrm>
          <a:prstGeom prst="roundRect">
            <a:avLst>
              <a:gd name="adj" fmla="val 851"/>
            </a:avLst>
          </a:prstGeom>
          <a:solidFill>
            <a:srgbClr val="121212"/>
          </a:solidFill>
          <a:ln/>
        </p:spPr>
      </p:sp>
      <p:sp>
        <p:nvSpPr>
          <p:cNvPr id="14" name="Text 12"/>
          <p:cNvSpPr/>
          <p:nvPr/>
        </p:nvSpPr>
        <p:spPr>
          <a:xfrm>
            <a:off x="5628084" y="2881313"/>
            <a:ext cx="3374231" cy="2955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Whitelist explícita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const allowed = [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'https://donambauxa.online',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'https://www.donambauxa.online',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'http://localhost:3000'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];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SRI per Leaflet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&lt;script src="leaflet.js"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integrity="sha256-…"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crossorigin="anonymous"&gt;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621560" y="1982033"/>
            <a:ext cx="4252198" cy="4550926"/>
          </a:xfrm>
          <a:prstGeom prst="roundRect">
            <a:avLst>
              <a:gd name="adj" fmla="val 1868"/>
            </a:avLst>
          </a:prstGeom>
          <a:solidFill>
            <a:srgbClr val="050505"/>
          </a:solidFill>
          <a:ln w="22860">
            <a:solidFill>
              <a:srgbClr val="5656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33491" y="2193965"/>
            <a:ext cx="3130391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Mutex Lock (Concurrència)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9833491" y="2692241"/>
            <a:ext cx="3828336" cy="2742248"/>
          </a:xfrm>
          <a:prstGeom prst="roundRect">
            <a:avLst>
              <a:gd name="adj" fmla="val 2897"/>
            </a:avLst>
          </a:prstGeom>
          <a:solidFill>
            <a:srgbClr val="121212"/>
          </a:solidFill>
          <a:ln/>
        </p:spPr>
      </p:sp>
      <p:sp>
        <p:nvSpPr>
          <p:cNvPr id="18" name="Shape 16"/>
          <p:cNvSpPr/>
          <p:nvPr/>
        </p:nvSpPr>
        <p:spPr>
          <a:xfrm>
            <a:off x="9824085" y="2692241"/>
            <a:ext cx="3847148" cy="2742248"/>
          </a:xfrm>
          <a:prstGeom prst="roundRect">
            <a:avLst>
              <a:gd name="adj" fmla="val 1035"/>
            </a:avLst>
          </a:prstGeom>
          <a:solidFill>
            <a:srgbClr val="121212"/>
          </a:solidFill>
          <a:ln/>
        </p:spPr>
      </p:sp>
      <p:sp>
        <p:nvSpPr>
          <p:cNvPr id="19" name="Text 17"/>
          <p:cNvSpPr/>
          <p:nvPr/>
        </p:nvSpPr>
        <p:spPr>
          <a:xfrm>
            <a:off x="10060543" y="2881313"/>
            <a:ext cx="3374231" cy="2364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// Prevé escriptures corruptes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async function withLock(path, fn) {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while (locks.has(path))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await sleep(50); // busy-wait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locks.add(path);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try { return await fn(); }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finally { locks.delete(path); }</a:t>
            </a:r>
            <a:endParaRPr lang="en-US" sz="14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8B949E"/>
                </a:solidFill>
                <a:highlight>
                  <a:srgbClr val="12121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56642" y="6735723"/>
            <a:ext cx="13117116" cy="794980"/>
          </a:xfrm>
          <a:prstGeom prst="roundRect">
            <a:avLst>
              <a:gd name="adj" fmla="val 9994"/>
            </a:avLst>
          </a:prstGeom>
          <a:solidFill>
            <a:srgbClr val="4B3F02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713" y="7012305"/>
            <a:ext cx="236458" cy="18907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371243" y="6963251"/>
            <a:ext cx="12313444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HTTPS gestionat per Vercel automàticament. 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app.set('trust proxy', 1)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permet llegir IPs reals a través del proxy de Vercel.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628" y="555784"/>
            <a:ext cx="1868924" cy="290751"/>
          </a:xfrm>
          <a:prstGeom prst="roundRect">
            <a:avLst>
              <a:gd name="adj" fmla="val 18994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933212" y="605076"/>
            <a:ext cx="1671757" cy="192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BLOC 11 — AUTOEVALUACIÓ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34628" y="900946"/>
            <a:ext cx="9030295" cy="513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Autoevaluació, Limitacions i Nota Proposada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34628" y="1754624"/>
            <a:ext cx="2077403" cy="26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Objectius assolits </a:t>
            </a:r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4628" y="2155150"/>
            <a:ext cx="6279952" cy="1679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SPA completa amb 9 vistes i routing hash-based</a:t>
            </a:r>
            <a:endParaRPr lang="en-US" sz="125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Joc musical amb 3 formats multimèdia i Schema.org</a:t>
            </a:r>
            <a:endParaRPr lang="en-US" sz="125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Auth completa: OAuth Google + JWT + rols (0 cookies)</a:t>
            </a:r>
            <a:endParaRPr lang="en-US" sz="125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CRUD admin per a 5 entitats amb mutex concurrent</a:t>
            </a:r>
            <a:endParaRPr lang="en-US" sz="125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Pipeline AVIF/WebP/JPEG + Core Web Vitals optimitzats</a:t>
            </a:r>
            <a:endParaRPr lang="en-US" sz="125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ARIA complet, exportació ICS, mapa Leaflet geolocalitzat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34628" y="3970973"/>
            <a:ext cx="2437805" cy="26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Limitacions trobades </a:t>
            </a:r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⚠️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4628" y="4371499"/>
            <a:ext cx="6279952" cy="816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Vercel EROFS → escriptures JSON no persisteixen en producció</a:t>
            </a:r>
            <a:endParaRPr lang="en-US" sz="125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Leaflet requereix delay de 50ms per al reflow del DOM</a:t>
            </a:r>
            <a:endParaRPr lang="en-US" sz="125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Puntuacions del joc no es guarden a la base de dades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23202" y="1853803"/>
            <a:ext cx="6279952" cy="542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250"/>
              </a:lnSpc>
              <a:buNone/>
            </a:pPr>
            <a:r>
              <a:rPr lang="en-US" sz="4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9.5</a:t>
            </a:r>
            <a:endParaRPr lang="en-US" sz="4250" dirty="0"/>
          </a:p>
        </p:txBody>
      </p:sp>
      <p:sp>
        <p:nvSpPr>
          <p:cNvPr id="10" name="Text 8"/>
          <p:cNvSpPr/>
          <p:nvPr/>
        </p:nvSpPr>
        <p:spPr>
          <a:xfrm>
            <a:off x="9635966" y="2580323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Nota proposada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23202" y="2973229"/>
            <a:ext cx="6279952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sobre 10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523202" y="3366611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Justificació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23202" y="3759518"/>
            <a:ext cx="6279952" cy="961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El projecte supera els requisits bàsics en totes les dimensions: multimèdia, semàntica, accessibilitat, seguretat i rendiment. Incorpora funcionalitats avançades no exigides: OAuth, mutex concurrent, SRI, Schema.org complet, pipeline AVIF i doble verificació JWT.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23202" y="4873704"/>
            <a:ext cx="6279952" cy="1102519"/>
          </a:xfrm>
          <a:prstGeom prst="roundRect">
            <a:avLst>
              <a:gd name="adj" fmla="val 6261"/>
            </a:avLst>
          </a:prstGeom>
          <a:solidFill>
            <a:srgbClr val="252528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7508" y="5110520"/>
            <a:ext cx="205383" cy="16430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057198" y="5050869"/>
            <a:ext cx="5581650" cy="720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Penalització de </a:t>
            </a:r>
            <a:pPr algn="l" indent="0" marL="0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-0.5</a:t>
            </a:r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per la manca de persistència de puntuacions del joc. La limitació EROFS és inherent a l'arquitectura serverless de Vercel, no un error de desenvolupament.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523202" y="6129338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Millores futures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23202" y="6522244"/>
            <a:ext cx="6279952" cy="110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Migrar persistència a Supabase Database</a:t>
            </a:r>
            <a:endParaRPr lang="en-US" sz="125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Historial de partides del joc per usuari</a:t>
            </a:r>
            <a:endParaRPr lang="en-US" sz="125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PWA (Service Worker + manifest) per a ús offline</a:t>
            </a:r>
            <a:endParaRPr lang="en-US" sz="125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i18n per a turistes en anglès o castellà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2026-04-28T11:31:19Z</dcterms:created>
  <dcterms:modified xsi:type="dcterms:W3CDTF">2026-04-28T11:31:19Z</dcterms:modified>
</cp:coreProperties>
</file>